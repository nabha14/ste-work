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6b0c56cba14561" /><Relationship Type="http://schemas.openxmlformats.org/officeDocument/2006/relationships/extended-properties" Target="/docProps/app.xml" Id="Reaa532926c884416" /><Relationship Type="http://schemas.openxmlformats.org/officeDocument/2006/relationships/officeDocument" Target="/ppt/presentation.xml" Id="R06f058efc0e349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ac83b3887e4358"/>
  </p:sldMasterIdLst>
  <p:notesMasterIdLst>
    <p:notesMasterId xmlns:r="http://schemas.openxmlformats.org/officeDocument/2006/relationships" r:id="R47a44860ffdf40ee"/>
  </p:notesMasterIdLst>
  <p:sldIdLst>
    <p:sldId xmlns:r="http://schemas.openxmlformats.org/officeDocument/2006/relationships" id="256" r:id="R1e9678cd4e444573"/>
    <p:sldId xmlns:r="http://schemas.openxmlformats.org/officeDocument/2006/relationships" id="257" r:id="R0cac2c249b9f4880"/>
    <p:sldId xmlns:r="http://schemas.openxmlformats.org/officeDocument/2006/relationships" id="258" r:id="R4198b7b114b547da"/>
    <p:sldId xmlns:r="http://schemas.openxmlformats.org/officeDocument/2006/relationships" id="259" r:id="R13e74b228eb14c56"/>
    <p:sldId xmlns:r="http://schemas.openxmlformats.org/officeDocument/2006/relationships" id="260" r:id="Rf704bd09c4144905"/>
    <p:sldId xmlns:r="http://schemas.openxmlformats.org/officeDocument/2006/relationships" id="261" r:id="Rd37ba218eea34023"/>
    <p:sldId xmlns:r="http://schemas.openxmlformats.org/officeDocument/2006/relationships" id="262" r:id="Ra65f61cddc1348f2"/>
    <p:sldId xmlns:r="http://schemas.openxmlformats.org/officeDocument/2006/relationships" id="263" r:id="R9b2500c1e0f741ef"/>
    <p:sldId xmlns:r="http://schemas.openxmlformats.org/officeDocument/2006/relationships" id="264" r:id="Rf6df602fc96f4d4e"/>
    <p:sldId xmlns:r="http://schemas.openxmlformats.org/officeDocument/2006/relationships" id="265" r:id="R44099255f73f41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e1ec1828144bc3" /><Relationship Type="http://schemas.openxmlformats.org/officeDocument/2006/relationships/slideMaster" Target="/ppt/slideMasters/slideMaster1.xml" Id="R8aac83b3887e4358" /><Relationship Type="http://schemas.openxmlformats.org/officeDocument/2006/relationships/notesMaster" Target="/ppt/notesMasters/notesMaster1.xml" Id="R47a44860ffdf40ee" /><Relationship Type="http://schemas.openxmlformats.org/officeDocument/2006/relationships/presProps" Target="/ppt/presProps.xml" Id="R6bbb9d0b8f204016" /><Relationship Type="http://schemas.openxmlformats.org/officeDocument/2006/relationships/tableStyles" Target="/ppt/tableStyles.xml" Id="R9d815e6110924064" /><Relationship Type="http://schemas.openxmlformats.org/officeDocument/2006/relationships/slide" Target="/ppt/slides/slide1.xml" Id="R1e9678cd4e444573" /><Relationship Type="http://schemas.openxmlformats.org/officeDocument/2006/relationships/slide" Target="/ppt/slides/slide2.xml" Id="R0cac2c249b9f4880" /><Relationship Type="http://schemas.openxmlformats.org/officeDocument/2006/relationships/slide" Target="/ppt/slides/slide3.xml" Id="R4198b7b114b547da" /><Relationship Type="http://schemas.openxmlformats.org/officeDocument/2006/relationships/slide" Target="/ppt/slides/slide4.xml" Id="R13e74b228eb14c56" /><Relationship Type="http://schemas.openxmlformats.org/officeDocument/2006/relationships/slide" Target="/ppt/slides/slide5.xml" Id="Rf704bd09c4144905" /><Relationship Type="http://schemas.openxmlformats.org/officeDocument/2006/relationships/slide" Target="/ppt/slides/slide6.xml" Id="Rd37ba218eea34023" /><Relationship Type="http://schemas.openxmlformats.org/officeDocument/2006/relationships/slide" Target="/ppt/slides/slide7.xml" Id="Ra65f61cddc1348f2" /><Relationship Type="http://schemas.openxmlformats.org/officeDocument/2006/relationships/slide" Target="/ppt/slides/slide8.xml" Id="R9b2500c1e0f741ef" /><Relationship Type="http://schemas.openxmlformats.org/officeDocument/2006/relationships/slide" Target="/ppt/slides/slide9.xml" Id="Rf6df602fc96f4d4e" /><Relationship Type="http://schemas.openxmlformats.org/officeDocument/2006/relationships/slide" Target="/ppt/slides/slide10.xml" Id="R44099255f73f41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13bef67e7540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64c5ef072345eb" /><Relationship Type="http://schemas.openxmlformats.org/officeDocument/2006/relationships/notesMaster" Target="/ppt/notesMasters/notesMaster1.xml" Id="Red193bea261042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4993ce57cf4f56" /><Relationship Type="http://schemas.openxmlformats.org/officeDocument/2006/relationships/notesMaster" Target="/ppt/notesMasters/notesMaster1.xml" Id="R4fc2084f72c446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8adb9acc0a4e84" /><Relationship Type="http://schemas.openxmlformats.org/officeDocument/2006/relationships/notesMaster" Target="/ppt/notesMasters/notesMaster1.xml" Id="R0a9ed595deee48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13b0a2db6a4d89" /><Relationship Type="http://schemas.openxmlformats.org/officeDocument/2006/relationships/notesMaster" Target="/ppt/notesMasters/notesMaster1.xml" Id="R2dc4f7d6dfcc49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683dd16f174799" /><Relationship Type="http://schemas.openxmlformats.org/officeDocument/2006/relationships/notesMaster" Target="/ppt/notesMasters/notesMaster1.xml" Id="Re30d7fcd478244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3f055f190b4026" /><Relationship Type="http://schemas.openxmlformats.org/officeDocument/2006/relationships/notesMaster" Target="/ppt/notesMasters/notesMaster1.xml" Id="R2e80a55a50774c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861c0b9feb4397" /><Relationship Type="http://schemas.openxmlformats.org/officeDocument/2006/relationships/notesMaster" Target="/ppt/notesMasters/notesMaster1.xml" Id="Rf619955cf1c742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bcddb2c9104600" /><Relationship Type="http://schemas.openxmlformats.org/officeDocument/2006/relationships/notesMaster" Target="/ppt/notesMasters/notesMaster1.xml" Id="R7e5705cdffe144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6bea1357fc4335" /><Relationship Type="http://schemas.openxmlformats.org/officeDocument/2006/relationships/notesMaster" Target="/ppt/notesMasters/notesMaster1.xml" Id="Rbf83f76da13742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df2e6f29f44cfb" /><Relationship Type="http://schemas.openxmlformats.org/officeDocument/2006/relationships/notesMaster" Target="/ppt/notesMasters/notesMaster1.xml" Id="R58a35925e40f41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64a23e4c3240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348a718cfa4f13" /><Relationship Type="http://schemas.openxmlformats.org/officeDocument/2006/relationships/slideLayout" Target="/ppt/slideLayouts/slideLayout1.xml" Id="R3bb2d259ef6f4f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b2d259ef6f4f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78a08980849c5" /><Relationship Type="http://schemas.openxmlformats.org/officeDocument/2006/relationships/notesSlide" Target="/ppt/notesSlides/notesSlide1.xml" Id="Rdb06cc30661844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4816ea2c8491f" /><Relationship Type="http://schemas.openxmlformats.org/officeDocument/2006/relationships/notesSlide" Target="/ppt/notesSlides/notesSlide2.xml" Id="R1d7d849ccb1449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6b3784dcf4ba7" /><Relationship Type="http://schemas.openxmlformats.org/officeDocument/2006/relationships/notesSlide" Target="/ppt/notesSlides/notesSlide3.xml" Id="R439db187831741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d7a0e1f524776" /><Relationship Type="http://schemas.openxmlformats.org/officeDocument/2006/relationships/notesSlide" Target="/ppt/notesSlides/notesSlide4.xml" Id="R21c4fddf831144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b4945bdb1449b" /><Relationship Type="http://schemas.openxmlformats.org/officeDocument/2006/relationships/notesSlide" Target="/ppt/notesSlides/notesSlide5.xml" Id="Re70f7cc65a7949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156df774a42e2" /><Relationship Type="http://schemas.openxmlformats.org/officeDocument/2006/relationships/notesSlide" Target="/ppt/notesSlides/notesSlide6.xml" Id="Raea24cfc85cb46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ae2b45c8b44cf" /><Relationship Type="http://schemas.openxmlformats.org/officeDocument/2006/relationships/notesSlide" Target="/ppt/notesSlides/notesSlide7.xml" Id="R96528586f90f4b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1f08743c9444a" /><Relationship Type="http://schemas.openxmlformats.org/officeDocument/2006/relationships/notesSlide" Target="/ppt/notesSlides/notesSlide8.xml" Id="Rc36ebadacb3c4a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a90d2140b46fa" /><Relationship Type="http://schemas.openxmlformats.org/officeDocument/2006/relationships/notesSlide" Target="/ppt/notesSlides/notesSlide9.xml" Id="Rf8c98d6b3d8c41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7615a6fe04020" /><Relationship Type="http://schemas.openxmlformats.org/officeDocument/2006/relationships/notesSlide" Target="/ppt/notesSlides/notesSlide10.xml" Id="Rc88fe246868a4d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2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CCEAE-C8D2-4088-8207-44D91D6D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0"/>
            <a:ext cx="5086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39C682-6ED6-4570-9FEF-24DA197C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9535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AB9C9-C655-4FF5-A9CE-6B420761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428750"/>
            <a:ext cx="20764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71BC4-CB3D-4213-AAAA-E6367A2B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DBBFF"/>
                </a:solidFill>
              </a:defRPr>
            </a:pPr>
            <a:r>
              <a:rPr sz="975" b="1">
                <a:solidFill>
                  <a:srgbClr val="9DBBFF"/>
                </a:solidFill>
              </a:rPr>
              <a:t>STELLARWORK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F22A2-CC0A-4933-86A8-528E60A7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Freelance escrow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without the trust gap.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0E242-67E0-4DAA-AA0E-8D1F86D7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6DEEF"/>
                </a:solidFill>
              </a:defRPr>
            </a:pPr>
            <a:r>
              <a:rPr sz="1725">
                <a:solidFill>
                  <a:srgbClr val="D6DEEF"/>
                </a:solidFill>
              </a:rPr>
              <a:t>Milestone-based freelance escrow on Stellar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56B46-15FA-4100-8F14-CFB921A8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8D4"/>
                </a:solidFill>
              </a:defRPr>
            </a:pPr>
            <a:r>
              <a:rPr sz="1125">
                <a:solidFill>
                  <a:srgbClr val="AAB8D4"/>
                </a:solidFill>
              </a:rPr>
              <a:t>Testnet product · Soroban smart contracts · WORK reputation</a:t>
            </a:r>
          </a:p>
        </p:txBody>
      </p:sp>
    </p:spTree>
    <p:extLst>
      <p:ext uri="{BB962C8B-B14F-4D97-AF65-F5344CB8AC3E}">
        <p14:creationId xmlns:p14="http://schemas.microsoft.com/office/powerpoint/2010/main" val="10518301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85774-7B7B-4FA2-87EC-E976DB04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50012-833C-4E4A-B6DE-9F75D29B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B6AE7-7100-44FD-AB07-A86CBA9D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CFFD74-9471-43E0-AA16-152B1A20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Every freelance project starts with a trust problem.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D898C-8158-46AC-98C9-C8E1186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The cost is uncertainty for both sides of the agreement.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9DFA3-39F5-4FC0-A6F6-0BDEE8E0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2956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7D641-CAE4-4B73-A7E9-047BA808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56AE6"/>
                </a:solidFill>
              </a:defRPr>
            </a:pPr>
            <a:r>
              <a:rPr sz="1050" b="1">
                <a:solidFill>
                  <a:srgbClr val="356AE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83EF0-6D87-48A3-AE01-DFFB617D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1827"/>
                </a:solidFill>
              </a:defRPr>
            </a:pPr>
            <a:r>
              <a:rPr sz="1800" b="1">
                <a:solidFill>
                  <a:srgbClr val="101827"/>
                </a:solidFill>
              </a:rPr>
              <a:t>Paying before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158E0F-8DCE-42C1-87C2-567FCCAA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38625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Clients need confidence that work will arrive as agreed.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B1C0D-7D52-4BB6-BB56-283A67F0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57500"/>
            <a:ext cx="32956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DA2D2-EEA0-417E-A0B2-384C8A56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861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56AE6"/>
                </a:solidFill>
              </a:defRPr>
            </a:pPr>
            <a:r>
              <a:rPr sz="1050" b="1">
                <a:solidFill>
                  <a:srgbClr val="356AE6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4F480-EAC1-4016-93A6-58848FBE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24250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1827"/>
                </a:solidFill>
              </a:defRPr>
            </a:pPr>
            <a:r>
              <a:rPr sz="1800" b="1">
                <a:solidFill>
                  <a:srgbClr val="101827"/>
                </a:solidFill>
              </a:rPr>
              <a:t>Shipping without 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7AF896-0583-4BBB-907F-E807AC47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38625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Freelancers need confidence that approved work will be paid.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3BFEB-A970-4AF8-97D5-A6964099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57500"/>
            <a:ext cx="32956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F6B92-02EB-4A2C-A6DA-2D9C70E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61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56AE6"/>
                </a:solidFill>
              </a:defRPr>
            </a:pPr>
            <a:r>
              <a:rPr sz="1050" b="1">
                <a:solidFill>
                  <a:srgbClr val="356AE6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16CC29-6DA3-4142-8BA0-A4BC47FC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1827"/>
                </a:solidFill>
              </a:defRPr>
            </a:pPr>
            <a:r>
              <a:rPr sz="1800" b="1">
                <a:solidFill>
                  <a:srgbClr val="101827"/>
                </a:solidFill>
              </a:rPr>
              <a:t>Opaque middle layers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E602BD-53D9-4DCF-A691-2B8A979B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38625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Cross-border work adds fees, settlement delays, and unclear dispute paths.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931802-BC63-41E6-9947-78114ED4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Result: smaller teams either accept risk or pay intermediaries to manage it.</a:t>
            </a:r>
          </a:p>
        </p:txBody>
      </p:sp>
    </p:spTree>
    <p:extLst>
      <p:ext uri="{BB962C8B-B14F-4D97-AF65-F5344CB8AC3E}">
        <p14:creationId xmlns:p14="http://schemas.microsoft.com/office/powerpoint/2010/main" val="21386371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07AE61-0A22-4A8C-95CC-E5E61F9C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THE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80932-B4D4-48CC-94B0-AB5F045F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F26DB-2E72-4027-8FF4-19DC7811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71B80-40C6-4826-A4B8-7F85A05E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Turn a work agreement into enforceable escrow.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4002B-87E4-471A-AEA2-E5B4F8DE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The interface makes the flow obvious; the contract makes the outcome verifiable.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7571A-0D76-4636-928A-1083EF37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01827"/>
                </a:solidFill>
              </a:defRPr>
            </a:pPr>
            <a:r>
              <a:rPr sz="1875">
                <a:solidFill>
                  <a:srgbClr val="101827"/>
                </a:solidFill>
              </a:rPr>
              <a:t>StellarWork locks payment in a Soroban contract and releases XLM only when agreed work is approved—or a dispute is resolved on-chain.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19056-2A1D-4FC3-96A8-0551F9F4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70A5E3-BABB-4435-8D60-73150533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1827"/>
                </a:solidFill>
              </a:defRPr>
            </a:pPr>
            <a:r>
              <a:rPr sz="1500">
                <a:solidFill>
                  <a:srgbClr val="101827"/>
                </a:solidFill>
              </a:rPr>
              <a:t>Fund milestones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E4CA8-52BE-4B2F-887A-A3D8D3A0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EB732-5FEE-4F9F-A5F0-7BB67C82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72025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1827"/>
                </a:solidFill>
              </a:defRPr>
            </a:pPr>
            <a:r>
              <a:rPr sz="1500">
                <a:solidFill>
                  <a:srgbClr val="101827"/>
                </a:solidFill>
              </a:rPr>
              <a:t>Lock XLM on-chain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DDAA8-A3C5-4DD8-98BD-6639E754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24B36F-3D1A-409C-A69C-31C82A23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006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1827"/>
                </a:solidFill>
              </a:defRPr>
            </a:pPr>
            <a:r>
              <a:rPr sz="1500">
                <a:solidFill>
                  <a:srgbClr val="101827"/>
                </a:solidFill>
              </a:rPr>
              <a:t>Approve completed work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AFA40-AD30-4F79-8CF2-03AC658C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E6F95-D798-4BF5-92B8-AEFE9FCE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29275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1827"/>
                </a:solidFill>
              </a:defRPr>
            </a:pPr>
            <a:r>
              <a:rPr sz="1500">
                <a:solidFill>
                  <a:srgbClr val="101827"/>
                </a:solidFill>
              </a:rPr>
              <a:t>Settle disputes transparently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B70B7-32AE-4681-9882-D54923C4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47950"/>
            <a:ext cx="3429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D0A9C-8174-4AD9-BA6B-AF7EF463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8194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AGREEMENT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AD9006-AC16-4847-84E1-330E3C87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173AE7-0350-497B-ABE4-5FBF0325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3429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5F6E1C-76A7-4AB3-9298-29980D5C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6004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ESCROW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F8BF7B-C04F-4912-B647-C89C6F01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6004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</a:defRPr>
            </a:pPr>
            <a:r>
              <a:rPr sz="900">
                <a:solidFill>
                  <a:srgbClr val="FFFFFF"/>
                </a:solidFill>
              </a:rPr>
              <a:t>funds are protected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1A8C49-BB75-43DB-821B-ED7D882D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10050"/>
            <a:ext cx="3429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A31625-9171-45B3-8053-702809A7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81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DELIVERY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4570E-BBB3-4128-A6C1-3D7A1655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38150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7C6F68-3883-48D3-B3AF-06DEDD94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91100"/>
            <a:ext cx="3429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317E5-10BC-44FC-BC63-BAA220ED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625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SETTLEMENT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55FAAF-51C1-4DAA-9FAB-D8B31CAD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162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36856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11B383-793A-4993-B7E1-A923149D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69BAE-3909-4AD0-8440-1E4420A3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490CA-328D-493C-B7A4-3DC5C39C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3F102-DE97-46C2-8990-14FA5F89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A simple workflow for both sides of the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8675B-B3C1-4236-BF5A-8AC6FA2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Five deliberate actions replace an unstructured payment handoff.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12EC8-8A3E-4CE6-89BF-AB9D60A9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62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4E72C-B41D-4173-BF02-FF88F0E1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7528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67479-C84F-49FD-A249-6ABBBCFE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819525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8F0BB-73EB-4C41-99FA-83098AD2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Post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34A59-4806-47AB-88A7-4FFE2412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0060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077"/>
                </a:solidFill>
              </a:defRPr>
            </a:pPr>
            <a:r>
              <a:rPr sz="1125">
                <a:solidFill>
                  <a:srgbClr val="526077"/>
                </a:solidFill>
              </a:rPr>
              <a:t>Client scopes a job and locks XLM.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4787E-049A-4EDB-875A-773ADB7F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7528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81E89-55AF-4C52-9446-EC47AAF4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819525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9351E9-CEAB-4C02-81DF-E218C096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005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Accept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96956-B644-4CA2-A20D-323CFF74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80060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077"/>
                </a:solidFill>
              </a:defRPr>
            </a:pPr>
            <a:r>
              <a:rPr sz="1125">
                <a:solidFill>
                  <a:srgbClr val="526077"/>
                </a:solidFill>
              </a:rPr>
              <a:t>Freelancer takes the milestone.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068650-858C-40F5-A3B2-4A619225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528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9D1991-1834-45AA-A2F4-C7C4669E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819525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22F1-77B0-4174-A65A-AA96C6E7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005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Deliver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89854B-2D6A-465F-804F-24FE1E52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80060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077"/>
                </a:solidFill>
              </a:defRPr>
            </a:pPr>
            <a:r>
              <a:rPr sz="1125">
                <a:solidFill>
                  <a:srgbClr val="526077"/>
                </a:solidFill>
              </a:rPr>
              <a:t>A deliverable reference is submitted.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9EC5E-4DEF-405C-B1B4-22D1B907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7528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CB3833-3D4C-4773-9E43-5E72A787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819525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78FD72-698D-412F-B736-3802265E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005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Approve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15F3C2-D0A5-4D98-B394-7BC53F64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0060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077"/>
                </a:solidFill>
              </a:defRPr>
            </a:pPr>
            <a:r>
              <a:rPr sz="1125">
                <a:solidFill>
                  <a:srgbClr val="526077"/>
                </a:solidFill>
              </a:rPr>
              <a:t>XLM releases and WORK reputation mints.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FEBAD5-B866-4DDB-B1B5-2EC64965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7528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B16DF-4C58-4755-BE47-2ADE0A36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19525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93442D-655E-4628-8246-36CAAA62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005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Resolve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5E5454-9391-4A38-870F-4D0711F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077"/>
                </a:solidFill>
              </a:defRPr>
            </a:pPr>
            <a:r>
              <a:rPr sz="1125">
                <a:solidFill>
                  <a:srgbClr val="526077"/>
                </a:solidFill>
              </a:rPr>
              <a:t>Either party can dispute; admin settles on-chain.</a:t>
            </a:r>
          </a:p>
        </p:txBody>
      </p:sp>
    </p:spTree>
    <p:extLst>
      <p:ext uri="{BB962C8B-B14F-4D97-AF65-F5344CB8AC3E}">
        <p14:creationId xmlns:p14="http://schemas.microsoft.com/office/powerpoint/2010/main" val="16409055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CFFC7B-D9CE-4DEB-8E63-36B2F2B6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FC170-F2DB-487E-9331-8C3412A8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201F6-0125-481D-9E9D-4DAA1D1F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A3F582-A1C8-44FE-BD83-819DA4F5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Built as a real on-chain product—not a payment mockup.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6BD02-F6FD-465E-827C-9ECFB322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Wallet-signed actions travel through a clear product stack.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C0488-FFE2-4F0B-9469-9A1A1C2B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1B5F5-D244-41A3-9982-E22FDBE9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A4837-4A4B-4E20-BECC-79F0A80D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6715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93F67-1FEE-497F-B55F-99199898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23622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6D5DB-0E70-470B-BE9F-4F7B9836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Next.js dApp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635412-8D57-45EA-9220-59ED7AB6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77"/>
                </a:solidFill>
              </a:defRPr>
            </a:pPr>
            <a:r>
              <a:rPr sz="1200">
                <a:solidFill>
                  <a:srgbClr val="526077"/>
                </a:solidFill>
              </a:rPr>
              <a:t>responsive, wallet-aware flows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7F276-C610-4361-92A7-86014E46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71800"/>
            <a:ext cx="23622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BF21DE-1D4D-42A1-A3F7-AFE2AFFF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385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Freighter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C5858-0D2C-4CCF-9636-158974B1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5285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77"/>
                </a:solidFill>
              </a:defRPr>
            </a:pPr>
            <a:r>
              <a:rPr sz="1200">
                <a:solidFill>
                  <a:srgbClr val="526077"/>
                </a:solidFill>
              </a:rPr>
              <a:t>signs every state-changing transaction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0FAC3D-E7BF-44BC-8395-73BE9196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71800"/>
            <a:ext cx="23622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ED894-94D1-40FA-B421-14B2C9F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85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Soroban escrow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BFB34C-D364-417B-A972-8E584878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5285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77"/>
                </a:solidFill>
              </a:defRPr>
            </a:pPr>
            <a:r>
              <a:rPr sz="1200">
                <a:solidFill>
                  <a:srgbClr val="526077"/>
                </a:solidFill>
              </a:rPr>
              <a:t>milestones, refunds, timeouts, disputes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82764E-7D5E-4E62-B9E0-A2D76BBD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71800"/>
            <a:ext cx="23622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724ABA-7413-4948-AE48-D3248A65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385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WORK token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CB03EA-DD12-49FB-B60E-9E0427F9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77"/>
                </a:solidFill>
              </a:defRPr>
            </a:pPr>
            <a:r>
              <a:rPr sz="1200">
                <a:solidFill>
                  <a:srgbClr val="526077"/>
                </a:solidFill>
              </a:rPr>
              <a:t>soulbound reputation after settlement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F80185-BD0B-4E86-95E9-002BCF73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984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Architecture principle: the UI guides the action; the contract enforces the outcome.</a:t>
            </a:r>
          </a:p>
        </p:txBody>
      </p:sp>
    </p:spTree>
    <p:extLst>
      <p:ext uri="{BB962C8B-B14F-4D97-AF65-F5344CB8AC3E}">
        <p14:creationId xmlns:p14="http://schemas.microsoft.com/office/powerpoint/2010/main" val="4538943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5EAFD3-B7BC-4EC7-AB01-1F99DEAF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MARKET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83034-E72D-49C6-9099-D0AA48E6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600FD-9086-4119-B403-DA0FED35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6E5A6E-67FF-4540-9DE8-9571B859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Start where trust and payment friction are highest.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26DED-5106-44B0-984F-166C408E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A focused beachhead creates a clear path to broader programmable work agreements.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C86D7-4748-4F15-91FB-B5D0A1BA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DD4FB-47C9-48D4-822D-6E10E08E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Beachhead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0871A-3984-47B7-B8D8-EE5768BD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09900"/>
            <a:ext cx="289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FF4FF"/>
                </a:solidFill>
              </a:defRPr>
            </a:pPr>
            <a:r>
              <a:rPr sz="1275">
                <a:solidFill>
                  <a:srgbClr val="EFF4FF"/>
                </a:solidFill>
              </a:rPr>
              <a:t>Independent developers, designers, and small remote teams.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30A3E-43E4-4A81-917E-77347DCE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51054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9F986A-FDA1-47F4-9490-2719061D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099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First use 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44141-5384-4597-BF88-00EFCAC3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09900"/>
            <a:ext cx="289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Milestone-based digital work with clear acceptance criteria.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19CAEF-B26F-40CF-A672-9EC59139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51054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BB185-E00A-4F7F-A852-50DF5ECF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Expansion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93C17-05A0-4F30-8CC8-4A5513B0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76750"/>
            <a:ext cx="289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Agencies, contributor bounties, DAO workstreams, creator commissions.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75F107-3E67-4D04-98AB-B34480F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48150"/>
            <a:ext cx="51054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1091CD-B67F-4EE5-A869-0865B42D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76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Stellar fit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C8588B-DB16-49C0-9C45-9DA41AA2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76750"/>
            <a:ext cx="289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Fast, low-cost settlement for frequent milestone payments.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09EB6D-1740-466D-801A-75DE20A5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1827"/>
                </a:solidFill>
              </a:defRPr>
            </a:pPr>
            <a:r>
              <a:rPr sz="1425" b="1">
                <a:solidFill>
                  <a:srgbClr val="101827"/>
                </a:solidFill>
              </a:rPr>
              <a:t>Opportunity: convert fragmented off-platform agreements into auditable, programmable work contracts.</a:t>
            </a:r>
          </a:p>
        </p:txBody>
      </p:sp>
    </p:spTree>
    <p:extLst>
      <p:ext uri="{BB962C8B-B14F-4D97-AF65-F5344CB8AC3E}">
        <p14:creationId xmlns:p14="http://schemas.microsoft.com/office/powerpoint/2010/main" val="9004722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0A37A5-2518-465D-86E6-B1BD26BA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BCF04-C495-4043-A4FB-B70BCC21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0D84C-CB23-4AA9-BFCE-23FB7050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E06FB-3D9F-480C-A507-74FD776A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Validation is measured on-chain and in the product.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00C8D-1812-43FD-9E77-32461378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Testnet evidence proves the lifecycle can be signed, submitted, and independently inspected.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F21EDA-4454-4245-8511-E3082E95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1242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3E597-3D9B-458F-AA94-8216EC29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76200" cy="1447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1B7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392A7-2A9B-41ED-8052-99C16484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40 / 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5FC49E-2AD0-4E60-8744-FD1DFD1A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77"/>
                </a:solidFill>
              </a:defRPr>
            </a:pPr>
            <a:r>
              <a:rPr sz="1200">
                <a:solidFill>
                  <a:srgbClr val="526077"/>
                </a:solidFill>
              </a:rPr>
              <a:t>new wallets completed a low-value post_job testnet interaction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C7CB8A-9016-4E7D-9D2E-53D7B9E8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8450"/>
            <a:ext cx="31242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633EC-1D89-4F3F-B9BD-C9769038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8450"/>
            <a:ext cx="76200" cy="1447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76483-D931-4846-BA67-61841DA5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051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C835FD-A779-46EC-BFA0-9C4CB179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14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77"/>
                </a:solidFill>
              </a:defRPr>
            </a:pPr>
            <a:r>
              <a:rPr sz="1200">
                <a:solidFill>
                  <a:srgbClr val="526077"/>
                </a:solidFill>
              </a:rPr>
              <a:t>distinct wallets selected for the combined submission cohort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A7D68-D108-479A-9296-89D9D915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38450"/>
            <a:ext cx="31242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1BA01-E5FF-4D40-B522-2B7B34DF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38450"/>
            <a:ext cx="76200" cy="1447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7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FB291-9D14-4C95-B12E-D776C304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051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56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4E4FD3-2201-4F97-A44A-BF85D600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14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77"/>
                </a:solidFill>
              </a:defRPr>
            </a:pPr>
            <a:r>
              <a:rPr sz="1200">
                <a:solidFill>
                  <a:srgbClr val="526077"/>
                </a:solidFill>
              </a:rPr>
              <a:t>automated contract tests covering critical lifecycle paths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E2AAEF-5269-4D08-B001-34BE3B3A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9982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5BB43-B9D7-4574-96CA-4D4E62F2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956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Live testnet dApp + deployed EscrowContract and WorkToken. Testnet validation is not presented as human feedback.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5CE6E-CD1C-47C9-8F3F-C33B9AA1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933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7"/>
                </a:solidFill>
              </a:defRPr>
            </a:pPr>
            <a:r>
              <a:rPr sz="1350">
                <a:solidFill>
                  <a:srgbClr val="526077"/>
                </a:solidFill>
              </a:rPr>
              <a:t>Explorer visibility makes every critical state change independently auditable.</a:t>
            </a:r>
          </a:p>
        </p:txBody>
      </p:sp>
    </p:spTree>
    <p:extLst>
      <p:ext uri="{BB962C8B-B14F-4D97-AF65-F5344CB8AC3E}">
        <p14:creationId xmlns:p14="http://schemas.microsoft.com/office/powerpoint/2010/main" val="1986885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9D40E-8589-4048-AE7C-65534CD7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GROWTH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F599E-9304-46A1-B9CE-7E9BEBC7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9AA6E-0420-4214-B6B9-5588C439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D3126-8520-424F-95D9-B34F031E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Growth comes from demonstrable trust—not speculative incentives.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BDA63-EE1C-4D51-8940-AA4C0C4E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Each successful job strengthens the next marketplace interaction.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2F1C68-B6EB-4528-B87B-91D05045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31623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D8757-B031-4000-84B4-2EA8B82D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05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CDC295-BAA4-4784-A994-9EEE2990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908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71360-00B3-4975-B618-761F042E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Activate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1060F-56FA-48CF-84E1-DD3F76F3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529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Onboard freelancer communities with testnet project templates and practical guided flows.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791880-E4DA-4392-86C5-D6D66216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5600"/>
            <a:ext cx="31623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5248FB-F3D6-4D9E-B33D-F94BD9F6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05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F2AC82-18DC-4F86-84C0-AC7A3AF1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908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86F02-530C-4BF9-B70A-48618998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147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Prove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13A01-6F6B-4A07-B2E4-B9C21FB7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529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Partner with hackathons and student-builder programs for milestone bounties and visible results.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A3862B-7B6F-44B7-B49D-E700DDC8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1623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58F4D-AB3E-4601-A14A-69E5D940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105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F0A29C-3526-47BE-8754-3FCE2D28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1908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A7E071-0BDA-4604-838B-1E392291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147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Compound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2474BC-C21B-4B1B-BEDA-8011FB29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529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7"/>
                </a:solidFill>
              </a:defRPr>
            </a:pPr>
            <a:r>
              <a:rPr sz="1275">
                <a:solidFill>
                  <a:srgbClr val="526077"/>
                </a:solidFill>
              </a:rPr>
              <a:t>Portable WORK reputation improves discovery and unlocks focused mainnet pilot cohorts.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2EF054-8CC8-433F-BF19-2D539938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56AE6"/>
                </a:solidFill>
              </a:defRPr>
            </a:pPr>
            <a:r>
              <a:rPr sz="1575" b="1">
                <a:solidFill>
                  <a:srgbClr val="356AE6"/>
                </a:solidFill>
              </a:rPr>
              <a:t>Completed work → verifiable reputation → stronger discovery → more funded jobs</a:t>
            </a:r>
          </a:p>
        </p:txBody>
      </p:sp>
    </p:spTree>
    <p:extLst>
      <p:ext uri="{BB962C8B-B14F-4D97-AF65-F5344CB8AC3E}">
        <p14:creationId xmlns:p14="http://schemas.microsoft.com/office/powerpoint/2010/main" val="14802348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3A2E01-1B0C-4837-9F6F-04A1919A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BUSINESS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B9542-6E7A-4E35-98CB-F5C0E5EB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D6A9-B357-48EA-B8F5-A797C73F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F1E37-1343-4E94-96B8-76834D96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A focused path to sustainable platform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7371B-196C-4074-A9F7-33F6B85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Keep escrow transparent and non-custodial; monetize the workflow around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A1AF73-9BD4-4032-B192-4B0FAE2A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1727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EA9726-64B5-4018-B6B2-F1F44D72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194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Premium workspaces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0FDDCA-917D-4EE9-8EE3-9CF6141C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1942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7"/>
                </a:solidFill>
              </a:defRPr>
            </a:pPr>
            <a:r>
              <a:rPr sz="1350">
                <a:solidFill>
                  <a:srgbClr val="526077"/>
                </a:solidFill>
              </a:rPr>
              <a:t>Organization controls, collaboration, and team coordination.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0EA7A-CE92-4CDB-B2B1-579ED31E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1727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7AB95-04D8-45AD-94B6-75F5A6BD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33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Enhanced arbitration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C8153C-3858-4F9B-A9F0-22999E26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3382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7"/>
                </a:solidFill>
              </a:defRPr>
            </a:pPr>
            <a:r>
              <a:rPr sz="1350">
                <a:solidFill>
                  <a:srgbClr val="526077"/>
                </a:solidFill>
              </a:rPr>
              <a:t>Evidence handling and advanced dispute workflow tools.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B8FB2-5D2B-47E1-9DED-AE01E6D0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01727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9E1444-6376-4107-A70C-87A3CF88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482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Discovery and analytics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F94D09-5C0A-4AEF-8921-09CCD8BA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4822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7"/>
                </a:solidFill>
              </a:defRPr>
            </a:pPr>
            <a:r>
              <a:rPr sz="1350">
                <a:solidFill>
                  <a:srgbClr val="526077"/>
                </a:solidFill>
              </a:rPr>
              <a:t>Job promotion, verified reputation insights, and reporting.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D4D74-56A6-4CA8-B4BD-DD101882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1827"/>
                </a:solidFill>
              </a:defRPr>
            </a:pPr>
            <a:r>
              <a:rPr sz="1500" b="1">
                <a:solidFill>
                  <a:srgbClr val="101827"/>
                </a:solidFill>
              </a:rPr>
              <a:t>Principle: trust infrastructure should make work easier—not introduce a new rent-seeking layer.</a:t>
            </a:r>
          </a:p>
        </p:txBody>
      </p:sp>
    </p:spTree>
    <p:extLst>
      <p:ext uri="{BB962C8B-B14F-4D97-AF65-F5344CB8AC3E}">
        <p14:creationId xmlns:p14="http://schemas.microsoft.com/office/powerpoint/2010/main" val="13264188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EE37DB-E372-4CAA-A515-79A2AC38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56AE6"/>
                </a:solidFill>
              </a:defRPr>
            </a:pPr>
            <a:r>
              <a:rPr sz="900" b="1">
                <a:solidFill>
                  <a:srgbClr val="356AE6"/>
                </a:solidFill>
              </a:rPr>
              <a:t>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7F8E6-AD48-4FBB-8D5C-58EB5C37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000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77"/>
                </a:solidFill>
              </a:defRPr>
            </a:pPr>
            <a:r>
              <a:rPr sz="900" b="1">
                <a:solidFill>
                  <a:srgbClr val="526077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E0CB3-C90E-410F-81BF-A7895AA7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48C61-9BDB-4C8C-8E39-32AA4A5F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01827"/>
                </a:solidFill>
              </a:defRPr>
            </a:pPr>
            <a:r>
              <a:rPr sz="3150" b="1">
                <a:solidFill>
                  <a:srgbClr val="101827"/>
                </a:solidFill>
              </a:rPr>
              <a:t>From testnet proof to a trusted work layer.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BDFD5-5B60-4960-B8A4-1B0197C1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077"/>
                </a:solidFill>
              </a:defRPr>
            </a:pPr>
            <a:r>
              <a:rPr sz="1425">
                <a:solidFill>
                  <a:srgbClr val="526077"/>
                </a:solidFill>
              </a:rPr>
              <a:t>A staged path prioritizes product evidence, safety, and responsible mainnet readiness.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7B77D-B272-4D89-B90E-F150304A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066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383835-93AA-471F-9EF0-19987B65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56AE6"/>
                </a:solidFill>
              </a:defRPr>
            </a:pPr>
            <a:r>
              <a:rPr sz="825" b="1">
                <a:solidFill>
                  <a:srgbClr val="356AE6"/>
                </a:solidFill>
              </a:rPr>
              <a:t>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B096D-1547-4782-BC3D-022A1CC7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23812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218F9-3CEC-400D-8543-BDB6E3F2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2000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1827"/>
                </a:solidFill>
              </a:defRPr>
            </a:pPr>
            <a:r>
              <a:rPr sz="1350">
                <a:solidFill>
                  <a:srgbClr val="101827"/>
                </a:solidFill>
              </a:rPr>
              <a:t>Testnet escrow, WORK reputation, feedback-led UX improvements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DB6A2-629D-45BF-AC64-DE5639B5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95600"/>
            <a:ext cx="1066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1F8868-B1AE-4E0F-B92A-B3276F11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9432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56AE6"/>
                </a:solidFill>
              </a:defRPr>
            </a:pPr>
            <a:r>
              <a:rPr sz="825" b="1">
                <a:solidFill>
                  <a:srgbClr val="356AE6"/>
                </a:solidFill>
              </a:rPr>
              <a:t>NEXT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6A16F5-003C-4D19-AB15-BE67E9AA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71850"/>
            <a:ext cx="23812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736B2-5162-4523-887A-4AB1462C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638550"/>
            <a:ext cx="2000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1827"/>
                </a:solidFill>
              </a:defRPr>
            </a:pPr>
            <a:r>
              <a:rPr sz="1350">
                <a:solidFill>
                  <a:srgbClr val="101827"/>
                </a:solidFill>
              </a:rPr>
              <a:t>Indexed activity feed, notifications, richer dispute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9BCB32-5EBB-4426-8ED7-CF5F10AA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95600"/>
            <a:ext cx="1066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7FE527-361B-4DF5-8D5D-5A03D93E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56AE6"/>
                </a:solidFill>
              </a:defRPr>
            </a:pPr>
            <a:r>
              <a:rPr sz="825" b="1">
                <a:solidFill>
                  <a:srgbClr val="356AE6"/>
                </a:solidFill>
              </a:rPr>
              <a:t>PILOT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CB89B4-1E04-4742-9D6E-74D93DE3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71850"/>
            <a:ext cx="23812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DE8A4-E6F2-4E19-A0CE-0BCF50C0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000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1827"/>
                </a:solidFill>
              </a:defRPr>
            </a:pPr>
            <a:r>
              <a:rPr sz="1350">
                <a:solidFill>
                  <a:srgbClr val="101827"/>
                </a:solidFill>
              </a:rPr>
              <a:t>Curated freelancer/client cohorts with repeat milestone workflows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369097-0FCD-49A1-9F8C-E17DC94D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95600"/>
            <a:ext cx="1066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AC583A-DC68-4036-916A-CD7C9139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432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1B795"/>
                </a:solidFill>
              </a:defRPr>
            </a:pPr>
            <a:r>
              <a:rPr sz="825" b="1">
                <a:solidFill>
                  <a:srgbClr val="21B795"/>
                </a:solidFill>
              </a:rPr>
              <a:t>READINESS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47D74C-D8AF-4D6E-92B6-668DA337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71850"/>
            <a:ext cx="23812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5836A-AC4E-4038-A0E4-90FEBF31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2000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1827"/>
                </a:solidFill>
              </a:defRPr>
            </a:pPr>
            <a:r>
              <a:rPr sz="1350">
                <a:solidFill>
                  <a:srgbClr val="101827"/>
                </a:solidFill>
              </a:rPr>
              <a:t>Security review, monitoring, admin policy, staged rollout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473C8-F6E4-4F8C-BD57-D4CB7A89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56AE6"/>
                </a:solidFill>
              </a:defRPr>
            </a:pPr>
            <a:r>
              <a:rPr sz="1725" b="1">
                <a:solidFill>
                  <a:srgbClr val="356AE6"/>
                </a:solidFill>
              </a:rPr>
              <a:t>North star: make a milestone agreement as easy to create as a job post—and as reliable as a contract.</a:t>
            </a:r>
          </a:p>
        </p:txBody>
      </p:sp>
    </p:spTree>
    <p:extLst>
      <p:ext uri="{BB962C8B-B14F-4D97-AF65-F5344CB8AC3E}">
        <p14:creationId xmlns:p14="http://schemas.microsoft.com/office/powerpoint/2010/main" val="15209824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2026-08-26T04:48:22.6020000Z</dcterms:created>
  <dcterms:modified xsi:type="dcterms:W3CDTF">2026-08-26T04:48:22.6020000Z</dcterms:modified>
</coreProperties>
</file>