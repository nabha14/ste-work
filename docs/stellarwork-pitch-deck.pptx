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b15feef7074919" /><Relationship Type="http://schemas.openxmlformats.org/officeDocument/2006/relationships/extended-properties" Target="/docProps/app.xml" Id="R69a43678e3344c8f" /><Relationship Type="http://schemas.openxmlformats.org/officeDocument/2006/relationships/officeDocument" Target="/ppt/presentation.xml" Id="R431ad07006c5433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f4c25fc54347ec"/>
  </p:sldMasterIdLst>
  <p:notesMasterIdLst>
    <p:notesMasterId xmlns:r="http://schemas.openxmlformats.org/officeDocument/2006/relationships" r:id="R807c05deaafc4bde"/>
  </p:notesMasterIdLst>
  <p:sldIdLst>
    <p:sldId xmlns:r="http://schemas.openxmlformats.org/officeDocument/2006/relationships" id="256" r:id="R0cca6b41dc6746fe"/>
    <p:sldId xmlns:r="http://schemas.openxmlformats.org/officeDocument/2006/relationships" id="257" r:id="R3b783ab8d061477b"/>
    <p:sldId xmlns:r="http://schemas.openxmlformats.org/officeDocument/2006/relationships" id="258" r:id="R4d9165955aa340bd"/>
    <p:sldId xmlns:r="http://schemas.openxmlformats.org/officeDocument/2006/relationships" id="259" r:id="R05552f9b438e4ade"/>
    <p:sldId xmlns:r="http://schemas.openxmlformats.org/officeDocument/2006/relationships" id="260" r:id="R604a7e5439684661"/>
    <p:sldId xmlns:r="http://schemas.openxmlformats.org/officeDocument/2006/relationships" id="261" r:id="R68ef9cca9c934a78"/>
    <p:sldId xmlns:r="http://schemas.openxmlformats.org/officeDocument/2006/relationships" id="262" r:id="Rc8ee274ec74146e8"/>
    <p:sldId xmlns:r="http://schemas.openxmlformats.org/officeDocument/2006/relationships" id="263" r:id="Rd4f91f869d5d4eab"/>
    <p:sldId xmlns:r="http://schemas.openxmlformats.org/officeDocument/2006/relationships" id="264" r:id="Rf9bad95a95534545"/>
    <p:sldId xmlns:r="http://schemas.openxmlformats.org/officeDocument/2006/relationships" id="265" r:id="Rdca889eb957b44e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c7c5171032e4c98" /><Relationship Type="http://schemas.openxmlformats.org/officeDocument/2006/relationships/slideMaster" Target="/ppt/slideMasters/slideMaster1.xml" Id="Rebf4c25fc54347ec" /><Relationship Type="http://schemas.openxmlformats.org/officeDocument/2006/relationships/notesMaster" Target="/ppt/notesMasters/notesMaster1.xml" Id="R807c05deaafc4bde" /><Relationship Type="http://schemas.openxmlformats.org/officeDocument/2006/relationships/presProps" Target="/ppt/presProps.xml" Id="R1bd3cd3d773a4687" /><Relationship Type="http://schemas.openxmlformats.org/officeDocument/2006/relationships/tableStyles" Target="/ppt/tableStyles.xml" Id="Rbfaf0dc61cdc43d2" /><Relationship Type="http://schemas.openxmlformats.org/officeDocument/2006/relationships/slide" Target="/ppt/slides/slide1.xml" Id="R0cca6b41dc6746fe" /><Relationship Type="http://schemas.openxmlformats.org/officeDocument/2006/relationships/slide" Target="/ppt/slides/slide2.xml" Id="R3b783ab8d061477b" /><Relationship Type="http://schemas.openxmlformats.org/officeDocument/2006/relationships/slide" Target="/ppt/slides/slide3.xml" Id="R4d9165955aa340bd" /><Relationship Type="http://schemas.openxmlformats.org/officeDocument/2006/relationships/slide" Target="/ppt/slides/slide4.xml" Id="R05552f9b438e4ade" /><Relationship Type="http://schemas.openxmlformats.org/officeDocument/2006/relationships/slide" Target="/ppt/slides/slide5.xml" Id="R604a7e5439684661" /><Relationship Type="http://schemas.openxmlformats.org/officeDocument/2006/relationships/slide" Target="/ppt/slides/slide6.xml" Id="R68ef9cca9c934a78" /><Relationship Type="http://schemas.openxmlformats.org/officeDocument/2006/relationships/slide" Target="/ppt/slides/slide7.xml" Id="Rc8ee274ec74146e8" /><Relationship Type="http://schemas.openxmlformats.org/officeDocument/2006/relationships/slide" Target="/ppt/slides/slide8.xml" Id="Rd4f91f869d5d4eab" /><Relationship Type="http://schemas.openxmlformats.org/officeDocument/2006/relationships/slide" Target="/ppt/slides/slide9.xml" Id="Rf9bad95a95534545" /><Relationship Type="http://schemas.openxmlformats.org/officeDocument/2006/relationships/slide" Target="/ppt/slides/slide10.xml" Id="Rdca889eb957b44e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2cfcab2a014e5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b48a010ab364039" /><Relationship Type="http://schemas.openxmlformats.org/officeDocument/2006/relationships/notesMaster" Target="/ppt/notesMasters/notesMaster1.xml" Id="R61f20a2f6d80495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e8e96e83cb144de" /><Relationship Type="http://schemas.openxmlformats.org/officeDocument/2006/relationships/notesMaster" Target="/ppt/notesMasters/notesMaster1.xml" Id="Rb911950d95dc463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430220b1d9e4184" /><Relationship Type="http://schemas.openxmlformats.org/officeDocument/2006/relationships/notesMaster" Target="/ppt/notesMasters/notesMaster1.xml" Id="R4aeefeac597248d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2003e21c927453a" /><Relationship Type="http://schemas.openxmlformats.org/officeDocument/2006/relationships/notesMaster" Target="/ppt/notesMasters/notesMaster1.xml" Id="Re284110d4c87424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d076081fbbd4f71" /><Relationship Type="http://schemas.openxmlformats.org/officeDocument/2006/relationships/notesMaster" Target="/ppt/notesMasters/notesMaster1.xml" Id="R35b8f7a713864ab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c3a9a042a6a434b" /><Relationship Type="http://schemas.openxmlformats.org/officeDocument/2006/relationships/notesMaster" Target="/ppt/notesMasters/notesMaster1.xml" Id="Ra358c567ce7c4de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998ac0cd2a749e4" /><Relationship Type="http://schemas.openxmlformats.org/officeDocument/2006/relationships/notesMaster" Target="/ppt/notesMasters/notesMaster1.xml" Id="Rdc1880d0281a475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09bc060148c4f50" /><Relationship Type="http://schemas.openxmlformats.org/officeDocument/2006/relationships/notesMaster" Target="/ppt/notesMasters/notesMaster1.xml" Id="R83091a67e38d427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df4a91340544983" /><Relationship Type="http://schemas.openxmlformats.org/officeDocument/2006/relationships/notesMaster" Target="/ppt/notesMasters/notesMaster1.xml" Id="R6564550d980e437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31efae9ae5d4929" /><Relationship Type="http://schemas.openxmlformats.org/officeDocument/2006/relationships/notesMaster" Target="/ppt/notesMasters/notesMaster1.xml" Id="Rdc79956cea994a6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d070895c5b4f1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160b88b6df347cf" /><Relationship Type="http://schemas.openxmlformats.org/officeDocument/2006/relationships/slideLayout" Target="/ppt/slideLayouts/slideLayout1.xml" Id="R3fd0e928dec6403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fd0e928dec640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836b9a27874630" /><Relationship Type="http://schemas.openxmlformats.org/officeDocument/2006/relationships/notesSlide" Target="/ppt/notesSlides/notesSlide1.xml" Id="R096107283f92467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bbf6ed0cf34445" /><Relationship Type="http://schemas.openxmlformats.org/officeDocument/2006/relationships/notesSlide" Target="/ppt/notesSlides/notesSlide2.xml" Id="Rdc0e7cfc3c5e462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5c8738ebdd4019" /><Relationship Type="http://schemas.openxmlformats.org/officeDocument/2006/relationships/notesSlide" Target="/ppt/notesSlides/notesSlide3.xml" Id="R64729f69ca7642b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402363ad194e73" /><Relationship Type="http://schemas.openxmlformats.org/officeDocument/2006/relationships/notesSlide" Target="/ppt/notesSlides/notesSlide4.xml" Id="Rc155a1f7134b4dc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077681c8ec408d" /><Relationship Type="http://schemas.openxmlformats.org/officeDocument/2006/relationships/notesSlide" Target="/ppt/notesSlides/notesSlide5.xml" Id="R0dccaf534ca4404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170a9fe3354423" /><Relationship Type="http://schemas.openxmlformats.org/officeDocument/2006/relationships/notesSlide" Target="/ppt/notesSlides/notesSlide6.xml" Id="R4cead6fae3e04e2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696fc285464b4b" /><Relationship Type="http://schemas.openxmlformats.org/officeDocument/2006/relationships/notesSlide" Target="/ppt/notesSlides/notesSlide7.xml" Id="R6d534dd31e1f43d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e55706992845df" /><Relationship Type="http://schemas.openxmlformats.org/officeDocument/2006/relationships/notesSlide" Target="/ppt/notesSlides/notesSlide8.xml" Id="Rb6321f5e5bc0474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1756b672494115" /><Relationship Type="http://schemas.openxmlformats.org/officeDocument/2006/relationships/notesSlide" Target="/ppt/notesSlides/notesSlide9.xml" Id="R379214e6005e407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3f134afd36451b" /><Relationship Type="http://schemas.openxmlformats.org/officeDocument/2006/relationships/notesSlide" Target="/ppt/notesSlides/notesSlide10.xml" Id="R7c552e86131b4d0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26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FCC074-5D3E-4E5F-9836-8F4FAAAB6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0"/>
            <a:ext cx="5086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A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05B940-9448-447A-9AFD-9A1A88BCD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895350"/>
            <a:ext cx="31432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16908B-307E-4161-841D-13ACC2633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428750"/>
            <a:ext cx="207645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E7E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FFEEFE-3A07-458C-BD9D-5DD26F94B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9DBBFF"/>
                </a:solidFill>
              </a:defRPr>
            </a:pPr>
            <a:r>
              <a:rPr sz="975" b="1">
                <a:solidFill>
                  <a:srgbClr val="9DBBFF"/>
                </a:solidFill>
              </a:rPr>
              <a:t>STELLARWORK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3B2DF4-1E34-45E6-8D2A-7C7927151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6191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Freelance escrow</a:t>
            </a:r>
          </a:p>
          <a:p xmlns:a="http://schemas.openxmlformats.org/drawingml/2006/main">
            <a:pPr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without the trust gap.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65B302-37C9-4570-8676-42DD7EFCF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D6DEEF"/>
                </a:solidFill>
              </a:defRPr>
            </a:pPr>
            <a:r>
              <a:rPr sz="1725">
                <a:solidFill>
                  <a:srgbClr val="D6DEEF"/>
                </a:solidFill>
              </a:rPr>
              <a:t>Milestone-based freelance escrow on Stellar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91B7C6-B5F8-4E57-8749-E7F721BC0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AB8D4"/>
                </a:solidFill>
              </a:defRPr>
            </a:pPr>
            <a:r>
              <a:rPr sz="1125">
                <a:solidFill>
                  <a:srgbClr val="AAB8D4"/>
                </a:solidFill>
              </a:rPr>
              <a:t>Testnet product · Soroban smart contracts · WORK reputation</a:t>
            </a:r>
          </a:p>
        </p:txBody>
      </p:sp>
    </p:spTree>
    <p:extLst>
      <p:ext uri="{BB962C8B-B14F-4D97-AF65-F5344CB8AC3E}">
        <p14:creationId xmlns:p14="http://schemas.microsoft.com/office/powerpoint/2010/main" val="2907524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C97DCF-3705-47D1-9E43-D631C4C3A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56AE6"/>
                </a:solidFill>
              </a:defRPr>
            </a:pPr>
            <a:r>
              <a:rPr sz="900" b="1">
                <a:solidFill>
                  <a:srgbClr val="356AE6"/>
                </a:solidFill>
              </a:rPr>
              <a:t>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10462F-0FAB-40A3-80DD-454E429D9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000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77"/>
                </a:solidFill>
              </a:defRPr>
            </a:pPr>
            <a:r>
              <a:rPr sz="900" b="1">
                <a:solidFill>
                  <a:srgbClr val="526077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537FB4-8C90-41B5-A0E1-5FF4AD5F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40D6E3-831F-4631-BE26-2C11150D5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8191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1827"/>
                </a:solidFill>
              </a:defRPr>
            </a:pPr>
            <a:r>
              <a:rPr sz="3150" b="1">
                <a:solidFill>
                  <a:srgbClr val="101827"/>
                </a:solidFill>
              </a:rPr>
              <a:t>Every freelance project starts with a trust problem.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74ACB3-F9C0-4A16-B8B9-668865472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14525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077"/>
                </a:solidFill>
              </a:defRPr>
            </a:pPr>
            <a:r>
              <a:rPr sz="1425">
                <a:solidFill>
                  <a:srgbClr val="526077"/>
                </a:solidFill>
              </a:rPr>
              <a:t>The cost is uncertainty for both sides of the agreement.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ED27B2-CD81-4024-9354-B439C481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29565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C8283C-31AE-436C-B65A-49E1EE849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861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56AE6"/>
                </a:solidFill>
              </a:defRPr>
            </a:pPr>
            <a:r>
              <a:rPr sz="1050" b="1">
                <a:solidFill>
                  <a:srgbClr val="356AE6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30CDBB-5DB1-4D1C-8D00-47E17B097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276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1827"/>
                </a:solidFill>
              </a:defRPr>
            </a:pPr>
            <a:r>
              <a:rPr sz="1800" b="1">
                <a:solidFill>
                  <a:srgbClr val="101827"/>
                </a:solidFill>
              </a:rPr>
              <a:t>Paying before delivery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3B2702-4988-462E-8233-EEF3FDBA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38625"/>
            <a:ext cx="2800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077"/>
                </a:solidFill>
              </a:defRPr>
            </a:pPr>
            <a:r>
              <a:rPr sz="1275">
                <a:solidFill>
                  <a:srgbClr val="526077"/>
                </a:solidFill>
              </a:rPr>
              <a:t>Clients need confidence that work will arrive as agreed.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25762D-04D3-41BE-8A44-4F7754E66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57500"/>
            <a:ext cx="329565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15A224-8561-4785-AD35-FC7C01E29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861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56AE6"/>
                </a:solidFill>
              </a:defRPr>
            </a:pPr>
            <a:r>
              <a:rPr sz="1050" b="1">
                <a:solidFill>
                  <a:srgbClr val="356AE6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76B832-7D33-4367-A8D1-8E55D5DD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524250"/>
            <a:ext cx="276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1827"/>
                </a:solidFill>
              </a:defRPr>
            </a:pPr>
            <a:r>
              <a:rPr sz="1800" b="1">
                <a:solidFill>
                  <a:srgbClr val="101827"/>
                </a:solidFill>
              </a:rPr>
              <a:t>Shipping without certainty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FF72DF-8175-49BC-8F00-13FCC5B2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238625"/>
            <a:ext cx="2800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077"/>
                </a:solidFill>
              </a:defRPr>
            </a:pPr>
            <a:r>
              <a:rPr sz="1275">
                <a:solidFill>
                  <a:srgbClr val="526077"/>
                </a:solidFill>
              </a:rPr>
              <a:t>Freelancers need confidence that approved work will be paid.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19B686-8B09-4D89-987D-13ECC71B0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57500"/>
            <a:ext cx="329565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C784C3-7EF7-4B5F-893D-FA847A33F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861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56AE6"/>
                </a:solidFill>
              </a:defRPr>
            </a:pPr>
            <a:r>
              <a:rPr sz="1050" b="1">
                <a:solidFill>
                  <a:srgbClr val="356AE6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447D16-AC1B-465F-83BE-4BA458F81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24250"/>
            <a:ext cx="276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1827"/>
                </a:solidFill>
              </a:defRPr>
            </a:pPr>
            <a:r>
              <a:rPr sz="1800" b="1">
                <a:solidFill>
                  <a:srgbClr val="101827"/>
                </a:solidFill>
              </a:rPr>
              <a:t>Opaque middle layers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DFC72B-5638-46A2-9489-196A9C719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38625"/>
            <a:ext cx="2800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077"/>
                </a:solidFill>
              </a:defRPr>
            </a:pPr>
            <a:r>
              <a:rPr sz="1275">
                <a:solidFill>
                  <a:srgbClr val="526077"/>
                </a:solidFill>
              </a:rPr>
              <a:t>Cross-border work adds fees, settlement delays, and unclear dispute paths.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96D71F-1969-4FA2-B375-0E0AD7EE4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1827"/>
                </a:solidFill>
              </a:defRPr>
            </a:pPr>
            <a:r>
              <a:rPr sz="1500" b="1">
                <a:solidFill>
                  <a:srgbClr val="101827"/>
                </a:solidFill>
              </a:rPr>
              <a:t>Result: smaller teams either accept risk or pay intermediaries to manage it.</a:t>
            </a:r>
          </a:p>
        </p:txBody>
      </p:sp>
    </p:spTree>
    <p:extLst>
      <p:ext uri="{BB962C8B-B14F-4D97-AF65-F5344CB8AC3E}">
        <p14:creationId xmlns:p14="http://schemas.microsoft.com/office/powerpoint/2010/main" val="15346400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471070-9F0E-4E87-9258-5E7F3FDD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56AE6"/>
                </a:solidFill>
              </a:defRPr>
            </a:pPr>
            <a:r>
              <a:rPr sz="900" b="1">
                <a:solidFill>
                  <a:srgbClr val="356AE6"/>
                </a:solidFill>
              </a:rPr>
              <a:t>THE 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C81082-8913-40FD-BCF2-A3BA1F6D9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000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77"/>
                </a:solidFill>
              </a:defRPr>
            </a:pPr>
            <a:r>
              <a:rPr sz="900" b="1">
                <a:solidFill>
                  <a:srgbClr val="526077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FC8B79-7CBD-43E5-B21A-77A50B148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5A1CBE-D0D3-46B5-9DD5-14740DD29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8191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1827"/>
                </a:solidFill>
              </a:defRPr>
            </a:pPr>
            <a:r>
              <a:rPr sz="3150" b="1">
                <a:solidFill>
                  <a:srgbClr val="101827"/>
                </a:solidFill>
              </a:rPr>
              <a:t>Turn a work agreement into enforceable escrow.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2C8152-1795-4BEE-84C7-FC2DDC48D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14525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077"/>
                </a:solidFill>
              </a:defRPr>
            </a:pPr>
            <a:r>
              <a:rPr sz="1425">
                <a:solidFill>
                  <a:srgbClr val="526077"/>
                </a:solidFill>
              </a:rPr>
              <a:t>The interface makes the flow obvious; the contract makes the outcome verifiable.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C8B2E1-0EBC-4E48-B1BB-4A91D1FC4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495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01827"/>
                </a:solidFill>
              </a:defRPr>
            </a:pPr>
            <a:r>
              <a:rPr sz="1875">
                <a:solidFill>
                  <a:srgbClr val="101827"/>
                </a:solidFill>
              </a:rPr>
              <a:t>StellarWork locks payment in a Soroban contract and releases XLM only when agreed work is approved—or a dispute is resolved on-chain.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5DED45-7358-4573-96DC-81CECEEAA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6A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783C9B-2D7A-45F8-BF6D-0E2259D64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43400"/>
            <a:ext cx="4362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01827"/>
                </a:solidFill>
              </a:defRPr>
            </a:pPr>
            <a:r>
              <a:rPr sz="1500">
                <a:solidFill>
                  <a:srgbClr val="101827"/>
                </a:solidFill>
              </a:rPr>
              <a:t>Fund milestones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71028D-94B7-410C-9872-7100FD36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6A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978FF8-9AAE-4DAE-B9DC-D11E27214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72025"/>
            <a:ext cx="4362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01827"/>
                </a:solidFill>
              </a:defRPr>
            </a:pPr>
            <a:r>
              <a:rPr sz="1500">
                <a:solidFill>
                  <a:srgbClr val="101827"/>
                </a:solidFill>
              </a:rPr>
              <a:t>Lock XLM on-chain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5B29B9-B28E-4CA6-9ED0-5A38AD9D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6A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249F96-6BEF-4486-B59F-166973F17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00650"/>
            <a:ext cx="4362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01827"/>
                </a:solidFill>
              </a:defRPr>
            </a:pPr>
            <a:r>
              <a:rPr sz="1500">
                <a:solidFill>
                  <a:srgbClr val="101827"/>
                </a:solidFill>
              </a:rPr>
              <a:t>Approve completed work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C5F5CB-D5D8-47E2-B44A-BCD87F028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6A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93E722-6285-4A4B-9356-356EB0404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29275"/>
            <a:ext cx="4362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01827"/>
                </a:solidFill>
              </a:defRPr>
            </a:pPr>
            <a:r>
              <a:rPr sz="1500">
                <a:solidFill>
                  <a:srgbClr val="101827"/>
                </a:solidFill>
              </a:rPr>
              <a:t>Settle disputes transparently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EA6CCE-4858-44F6-B3D2-2D978D563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647950"/>
            <a:ext cx="34290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D4B627-CEB0-4D3E-9BFC-797D938EC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819400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1827"/>
                </a:solidFill>
              </a:defRPr>
            </a:pPr>
            <a:r>
              <a:rPr sz="1200" b="1">
                <a:solidFill>
                  <a:srgbClr val="101827"/>
                </a:solidFill>
              </a:rPr>
              <a:t>AGREEMENT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1C26A5-4F70-4413-8ADC-AAB90BAB6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81940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E94C67-C733-4E62-9E46-54AB15CD6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429000"/>
            <a:ext cx="34290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356A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2CDECD-A2AC-4B4B-8907-E554A4167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600450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ESCROW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471363-1E1F-4A07-B718-494E092F6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6004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</a:defRPr>
            </a:pPr>
            <a:r>
              <a:rPr sz="900">
                <a:solidFill>
                  <a:srgbClr val="FFFFFF"/>
                </a:solidFill>
              </a:rPr>
              <a:t>funds are protected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244988-A8C9-4547-920C-865B51DE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210050"/>
            <a:ext cx="34290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66D4D3-B2D3-41E1-82B5-7DEEA8466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381500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1827"/>
                </a:solidFill>
              </a:defRPr>
            </a:pPr>
            <a:r>
              <a:rPr sz="1200" b="1">
                <a:solidFill>
                  <a:srgbClr val="101827"/>
                </a:solidFill>
              </a:rPr>
              <a:t>DELIVERY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C7EC36-F5D1-4C5F-9219-8E541E76A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38150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F475B5-9352-450C-BD58-A01C5E25E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991100"/>
            <a:ext cx="34290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B138C1-D3DE-49B1-BB4B-822C1E601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162550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1827"/>
                </a:solidFill>
              </a:defRPr>
            </a:pPr>
            <a:r>
              <a:rPr sz="1200" b="1">
                <a:solidFill>
                  <a:srgbClr val="101827"/>
                </a:solidFill>
              </a:rPr>
              <a:t>SETTLEMENT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95EB15-31A2-4A35-80CE-9143E18D7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51625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9898882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C4BB31-F56D-47A2-A324-D37FE6B93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56AE6"/>
                </a:solidFill>
              </a:defRPr>
            </a:pPr>
            <a:r>
              <a:rPr sz="900" b="1">
                <a:solidFill>
                  <a:srgbClr val="356AE6"/>
                </a:solidFill>
              </a:rPr>
              <a:t>PRODUCT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DE1EA3-656A-444E-8D9A-932072B91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000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77"/>
                </a:solidFill>
              </a:defRPr>
            </a:pPr>
            <a:r>
              <a:rPr sz="900" b="1">
                <a:solidFill>
                  <a:srgbClr val="526077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5EE9EE-9893-4706-938B-5715D951A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3AA2C1-C56D-42CF-AFDC-00ADD1B5B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8191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1827"/>
                </a:solidFill>
              </a:defRPr>
            </a:pPr>
            <a:r>
              <a:rPr sz="3150" b="1">
                <a:solidFill>
                  <a:srgbClr val="101827"/>
                </a:solidFill>
              </a:rPr>
              <a:t>A simple workflow for both sides of the contract.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40414B-4793-466A-8FE3-9EFFF17EA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14525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077"/>
                </a:solidFill>
              </a:defRPr>
            </a:pPr>
            <a:r>
              <a:rPr sz="1425">
                <a:solidFill>
                  <a:srgbClr val="526077"/>
                </a:solidFill>
              </a:rPr>
              <a:t>Five deliberate actions replace an unstructured payment handoff.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31EA9F-7838-4672-B754-EF5CE77E5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62400"/>
            <a:ext cx="962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51A5AC-B7C6-4D34-A4B4-1385AB167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752850"/>
            <a:ext cx="304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6A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B98F12-B54C-42CE-A4DD-63E78A439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819525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89C950-7D25-4F2B-B198-117202439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827"/>
                </a:solidFill>
              </a:defRPr>
            </a:pPr>
            <a:r>
              <a:rPr sz="1575" b="1">
                <a:solidFill>
                  <a:srgbClr val="101827"/>
                </a:solidFill>
              </a:rPr>
              <a:t>Post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93F1DB-E234-4D28-BF72-3186B6AD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0060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26077"/>
                </a:solidFill>
              </a:defRPr>
            </a:pPr>
            <a:r>
              <a:rPr sz="1125">
                <a:solidFill>
                  <a:srgbClr val="526077"/>
                </a:solidFill>
              </a:rPr>
              <a:t>Client scopes a job and locks XLM.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182E28-653E-418C-966B-35A2E5610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752850"/>
            <a:ext cx="304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6A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60280B-E5B9-4C69-BA49-7EB6B0223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819525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4F2EE1-C229-4886-BD8A-1547DEAD5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005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827"/>
                </a:solidFill>
              </a:defRPr>
            </a:pPr>
            <a:r>
              <a:rPr sz="1575" b="1">
                <a:solidFill>
                  <a:srgbClr val="101827"/>
                </a:solidFill>
              </a:rPr>
              <a:t>Accept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EF5080-825C-422C-A0C4-A724E1297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80060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26077"/>
                </a:solidFill>
              </a:defRPr>
            </a:pPr>
            <a:r>
              <a:rPr sz="1125">
                <a:solidFill>
                  <a:srgbClr val="526077"/>
                </a:solidFill>
              </a:rPr>
              <a:t>Freelancer takes the milestone.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AFBEBE-8CED-4F6C-B52F-FB883924F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752850"/>
            <a:ext cx="304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6A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B23D71-6BEE-41E0-89BC-51740B597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819525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602B40-B278-4859-8F8A-FA27F2804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005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827"/>
                </a:solidFill>
              </a:defRPr>
            </a:pPr>
            <a:r>
              <a:rPr sz="1575" b="1">
                <a:solidFill>
                  <a:srgbClr val="101827"/>
                </a:solidFill>
              </a:rPr>
              <a:t>Deliver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98332F-70AC-4504-8A2B-3CF1A6DE8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80060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26077"/>
                </a:solidFill>
              </a:defRPr>
            </a:pPr>
            <a:r>
              <a:rPr sz="1125">
                <a:solidFill>
                  <a:srgbClr val="526077"/>
                </a:solidFill>
              </a:rPr>
              <a:t>A deliverable reference is submitted.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08CBC8-C1BD-4746-85C1-88DD04AE9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752850"/>
            <a:ext cx="304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6A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95CE9E-0CF5-4C4E-8C7E-02EDD9DD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819525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029A93-1A5E-45DA-A042-38C3C46CD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4005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827"/>
                </a:solidFill>
              </a:defRPr>
            </a:pPr>
            <a:r>
              <a:rPr sz="1575" b="1">
                <a:solidFill>
                  <a:srgbClr val="101827"/>
                </a:solidFill>
              </a:rPr>
              <a:t>Approve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9555D0-DC3C-4443-B42F-D23CD8326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80060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26077"/>
                </a:solidFill>
              </a:defRPr>
            </a:pPr>
            <a:r>
              <a:rPr sz="1125">
                <a:solidFill>
                  <a:srgbClr val="526077"/>
                </a:solidFill>
              </a:rPr>
              <a:t>XLM releases and WORK reputation mints.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50B2FC-EF5B-4556-B4DB-923D5CBD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752850"/>
            <a:ext cx="304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6A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2F8484-F814-42A7-B9D5-7C6CFEC95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819525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19F9D4-3A3C-4F0F-B6DB-F74B42CE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4005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827"/>
                </a:solidFill>
              </a:defRPr>
            </a:pPr>
            <a:r>
              <a:rPr sz="1575" b="1">
                <a:solidFill>
                  <a:srgbClr val="101827"/>
                </a:solidFill>
              </a:rPr>
              <a:t>Resolve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8F368F-34B9-473C-9B70-4B4E70A4A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80060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26077"/>
                </a:solidFill>
              </a:defRPr>
            </a:pPr>
            <a:r>
              <a:rPr sz="1125">
                <a:solidFill>
                  <a:srgbClr val="526077"/>
                </a:solidFill>
              </a:rPr>
              <a:t>Either party can dispute; admin settles on-chain.</a:t>
            </a:r>
          </a:p>
        </p:txBody>
      </p:sp>
    </p:spTree>
    <p:extLst>
      <p:ext uri="{BB962C8B-B14F-4D97-AF65-F5344CB8AC3E}">
        <p14:creationId xmlns:p14="http://schemas.microsoft.com/office/powerpoint/2010/main" val="2265712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66B678-F0C5-4CFE-B11E-1AFBF3D2C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56AE6"/>
                </a:solidFill>
              </a:defRPr>
            </a:pPr>
            <a:r>
              <a:rPr sz="900" b="1">
                <a:solidFill>
                  <a:srgbClr val="356AE6"/>
                </a:solidFill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5A95CD-A56C-4C11-A8E3-B070DF14E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000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77"/>
                </a:solidFill>
              </a:defRPr>
            </a:pPr>
            <a:r>
              <a:rPr sz="900" b="1">
                <a:solidFill>
                  <a:srgbClr val="526077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CA8665-4EE1-4042-8889-4B210D384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EAFF4A-A94D-4EB7-9EB5-313448F0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8191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1827"/>
                </a:solidFill>
              </a:defRPr>
            </a:pPr>
            <a:r>
              <a:rPr sz="3150" b="1">
                <a:solidFill>
                  <a:srgbClr val="101827"/>
                </a:solidFill>
              </a:rPr>
              <a:t>Built as a real on-chain product—not a payment mockup.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65DE9F-BD54-4FB9-9BE2-275091F4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14525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077"/>
                </a:solidFill>
              </a:defRPr>
            </a:pPr>
            <a:r>
              <a:rPr sz="1425">
                <a:solidFill>
                  <a:srgbClr val="526077"/>
                </a:solidFill>
              </a:rPr>
              <a:t>Wallet-signed actions travel through a clear product stack.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7ABAA0-E529-4DEE-9D98-C27465F4B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867150"/>
            <a:ext cx="19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A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A147C6-214F-4E28-AAC9-AB7ABF022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867150"/>
            <a:ext cx="19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A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AC067B-DE8A-46FD-A602-D1B25F99D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867150"/>
            <a:ext cx="19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A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7D6EA2-3E00-4B03-8BCF-ACF6E963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236220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131479-7900-4EBA-B380-CE1287A57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1981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7"/>
                </a:solidFill>
              </a:defRPr>
            </a:pPr>
            <a:r>
              <a:rPr sz="1650" b="1">
                <a:solidFill>
                  <a:srgbClr val="101827"/>
                </a:solidFill>
              </a:rPr>
              <a:t>Next.js dApp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BC5B80-2FB3-4CE5-9276-247CEFD07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52850"/>
            <a:ext cx="1981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6077"/>
                </a:solidFill>
              </a:defRPr>
            </a:pPr>
            <a:r>
              <a:rPr sz="1200">
                <a:solidFill>
                  <a:srgbClr val="526077"/>
                </a:solidFill>
              </a:rPr>
              <a:t>responsive, wallet-aware flows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E11E3B-67F1-419A-A807-F1DFF008C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71800"/>
            <a:ext cx="236220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7E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F41A9B-6FD9-4BD8-954A-90A185F5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38500"/>
            <a:ext cx="1981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7"/>
                </a:solidFill>
              </a:defRPr>
            </a:pPr>
            <a:r>
              <a:rPr sz="1650" b="1">
                <a:solidFill>
                  <a:srgbClr val="101827"/>
                </a:solidFill>
              </a:rPr>
              <a:t>Freighter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56DDEF-ED24-4555-9B7B-D76BA11D6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752850"/>
            <a:ext cx="1981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6077"/>
                </a:solidFill>
              </a:defRPr>
            </a:pPr>
            <a:r>
              <a:rPr sz="1200">
                <a:solidFill>
                  <a:srgbClr val="526077"/>
                </a:solidFill>
              </a:rPr>
              <a:t>signs every state-changing transaction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B0C7B8-65A4-417F-B7D0-6C47E8735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71800"/>
            <a:ext cx="236220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AE31B5-BD4A-4FC6-A897-41C55F8F0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38500"/>
            <a:ext cx="1981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7"/>
                </a:solidFill>
              </a:defRPr>
            </a:pPr>
            <a:r>
              <a:rPr sz="1650" b="1">
                <a:solidFill>
                  <a:srgbClr val="101827"/>
                </a:solidFill>
              </a:rPr>
              <a:t>Soroban escrow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AB66AB-CD49-49BC-90A4-FD0760128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52850"/>
            <a:ext cx="1981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6077"/>
                </a:solidFill>
              </a:defRPr>
            </a:pPr>
            <a:r>
              <a:rPr sz="1200">
                <a:solidFill>
                  <a:srgbClr val="526077"/>
                </a:solidFill>
              </a:rPr>
              <a:t>milestones, refunds, timeouts, disputes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632250-D063-4569-9058-85BC3B578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971800"/>
            <a:ext cx="236220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7E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200382-36E0-4293-B5A2-F57CE3858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238500"/>
            <a:ext cx="1981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7"/>
                </a:solidFill>
              </a:defRPr>
            </a:pPr>
            <a:r>
              <a:rPr sz="1650" b="1">
                <a:solidFill>
                  <a:srgbClr val="101827"/>
                </a:solidFill>
              </a:rPr>
              <a:t>WORK token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3988D7-1509-4C19-A5A7-95A5E3C1D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752850"/>
            <a:ext cx="1981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6077"/>
                </a:solidFill>
              </a:defRPr>
            </a:pPr>
            <a:r>
              <a:rPr sz="1200">
                <a:solidFill>
                  <a:srgbClr val="526077"/>
                </a:solidFill>
              </a:rPr>
              <a:t>soulbound reputation after settlement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78BAA8-F8A1-4F22-9E57-E89318F84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9848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1827"/>
                </a:solidFill>
              </a:defRPr>
            </a:pPr>
            <a:r>
              <a:rPr sz="1500" b="1">
                <a:solidFill>
                  <a:srgbClr val="101827"/>
                </a:solidFill>
              </a:rPr>
              <a:t>Architecture principle: the UI guides the action; the contract enforces the outcome.</a:t>
            </a:r>
          </a:p>
        </p:txBody>
      </p:sp>
    </p:spTree>
    <p:extLst>
      <p:ext uri="{BB962C8B-B14F-4D97-AF65-F5344CB8AC3E}">
        <p14:creationId xmlns:p14="http://schemas.microsoft.com/office/powerpoint/2010/main" val="11308031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BAD04E-7AC3-4E0C-BAC1-6B14B78E7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56AE6"/>
                </a:solidFill>
              </a:defRPr>
            </a:pPr>
            <a:r>
              <a:rPr sz="900" b="1">
                <a:solidFill>
                  <a:srgbClr val="356AE6"/>
                </a:solidFill>
              </a:rPr>
              <a:t>MARKET OPPORTUNITY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EF5237-45F8-404E-B9D7-B66C8AD21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000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77"/>
                </a:solidFill>
              </a:defRPr>
            </a:pPr>
            <a:r>
              <a:rPr sz="900" b="1">
                <a:solidFill>
                  <a:srgbClr val="526077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3F5035-73B7-4F5D-80B5-264AA68EE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DF056B-FAE2-49CF-8BC1-4C630194D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8191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1827"/>
                </a:solidFill>
              </a:defRPr>
            </a:pPr>
            <a:r>
              <a:rPr sz="3150" b="1">
                <a:solidFill>
                  <a:srgbClr val="101827"/>
                </a:solidFill>
              </a:rPr>
              <a:t>Start where trust and payment friction are highest.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C1CF11-1652-4AA2-9C2E-80DC43346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14525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077"/>
                </a:solidFill>
              </a:defRPr>
            </a:pPr>
            <a:r>
              <a:rPr sz="1425">
                <a:solidFill>
                  <a:srgbClr val="526077"/>
                </a:solidFill>
              </a:rPr>
              <a:t>A focused beachhead creates a clear path to broader programmable work agreements.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6DE4F5-B9F9-4D91-B40F-09ACC3950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51054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356A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2B74F7-80EC-4398-9D78-7F513DED3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Beachhead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C71A4D-2CD5-48B4-9F64-0C6BC5733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00990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EFF4FF"/>
                </a:solidFill>
              </a:defRPr>
            </a:pPr>
            <a:r>
              <a:rPr sz="1275">
                <a:solidFill>
                  <a:srgbClr val="EFF4FF"/>
                </a:solidFill>
              </a:rPr>
              <a:t>Independent developers, designers, and small remote teams.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7D4B4A-05BE-40CA-900F-3333ED546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781300"/>
            <a:ext cx="51054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748C67-B444-46D0-A282-EBFB5F5BD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099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1827"/>
                </a:solidFill>
              </a:defRPr>
            </a:pPr>
            <a:r>
              <a:rPr sz="1500" b="1">
                <a:solidFill>
                  <a:srgbClr val="101827"/>
                </a:solidFill>
              </a:rPr>
              <a:t>First use case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DD176A-C00C-4091-BD72-F28B22422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0990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077"/>
                </a:solidFill>
              </a:defRPr>
            </a:pPr>
            <a:r>
              <a:rPr sz="1275">
                <a:solidFill>
                  <a:srgbClr val="526077"/>
                </a:solidFill>
              </a:rPr>
              <a:t>Milestone-based digital work with clear acceptance criteria.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CFC258-486B-435B-B2E4-832E80201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51054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F72276-0C67-40DB-8C80-CC097083D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1827"/>
                </a:solidFill>
              </a:defRPr>
            </a:pPr>
            <a:r>
              <a:rPr sz="1500" b="1">
                <a:solidFill>
                  <a:srgbClr val="101827"/>
                </a:solidFill>
              </a:rPr>
              <a:t>Expansion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4458A6-F2A6-4220-8137-C3D427563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47675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077"/>
                </a:solidFill>
              </a:defRPr>
            </a:pPr>
            <a:r>
              <a:rPr sz="1275">
                <a:solidFill>
                  <a:srgbClr val="526077"/>
                </a:solidFill>
              </a:rPr>
              <a:t>Agencies, contributor bounties, DAO workstreams, creator commissions.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C7D003-6925-4D21-8A38-96C3541F9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248150"/>
            <a:ext cx="51054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B62826-32BC-4F7F-B8C3-7F1B4AE7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4767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1827"/>
                </a:solidFill>
              </a:defRPr>
            </a:pPr>
            <a:r>
              <a:rPr sz="1500" b="1">
                <a:solidFill>
                  <a:srgbClr val="101827"/>
                </a:solidFill>
              </a:rPr>
              <a:t>Stellar fit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EE6518-A83A-4A16-B770-2DE534F75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7675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077"/>
                </a:solidFill>
              </a:defRPr>
            </a:pPr>
            <a:r>
              <a:rPr sz="1275">
                <a:solidFill>
                  <a:srgbClr val="526077"/>
                </a:solidFill>
              </a:rPr>
              <a:t>Fast, low-cost settlement for frequent milestone payments.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03DAD3-6EAE-4F13-B5CF-653B17A63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1827"/>
                </a:solidFill>
              </a:defRPr>
            </a:pPr>
            <a:r>
              <a:rPr sz="1425" b="1">
                <a:solidFill>
                  <a:srgbClr val="101827"/>
                </a:solidFill>
              </a:rPr>
              <a:t>Opportunity: convert fragmented off-platform agreements into auditable, programmable work contracts.</a:t>
            </a:r>
          </a:p>
        </p:txBody>
      </p:sp>
    </p:spTree>
    <p:extLst>
      <p:ext uri="{BB962C8B-B14F-4D97-AF65-F5344CB8AC3E}">
        <p14:creationId xmlns:p14="http://schemas.microsoft.com/office/powerpoint/2010/main" val="18610752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3FBFFD-85BA-4C3A-B657-B240C2BD0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56AE6"/>
                </a:solidFill>
              </a:defRPr>
            </a:pPr>
            <a:r>
              <a:rPr sz="900" b="1">
                <a:solidFill>
                  <a:srgbClr val="356AE6"/>
                </a:solidFill>
              </a:rPr>
              <a:t>VALIDATION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BF7649-9AB8-4994-BFD9-AA1A5CE55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000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77"/>
                </a:solidFill>
              </a:defRPr>
            </a:pPr>
            <a:r>
              <a:rPr sz="900" b="1">
                <a:solidFill>
                  <a:srgbClr val="526077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ADD675-CDDA-4104-8220-9A456630E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B17C62-A9F7-4D2E-BE9F-5E0E20BBB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8191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1827"/>
                </a:solidFill>
              </a:defRPr>
            </a:pPr>
            <a:r>
              <a:rPr sz="3150" b="1">
                <a:solidFill>
                  <a:srgbClr val="101827"/>
                </a:solidFill>
              </a:rPr>
              <a:t>Validation is measured on-chain and in the product.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B96220-36D7-40D2-9E69-079A2D2E0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14525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077"/>
                </a:solidFill>
              </a:defRPr>
            </a:pPr>
            <a:r>
              <a:rPr sz="1425">
                <a:solidFill>
                  <a:srgbClr val="526077"/>
                </a:solidFill>
              </a:rPr>
              <a:t>Product behavior is exercised through automated coverage and visible contract state changes.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8B23DB-54BB-47B6-B183-59E7CC356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312420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007AAB-70E2-49B7-B7AB-80B69E54B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76200" cy="1447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B7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06868C-0A34-4A45-B130-1D8B3F2F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1827"/>
                </a:solidFill>
              </a:defRPr>
            </a:pPr>
            <a:r>
              <a:rPr sz="3150" b="1">
                <a:solidFill>
                  <a:srgbClr val="101827"/>
                </a:solidFill>
              </a:rPr>
              <a:t>TESTNET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7707AB-D7DF-46B4-A23B-E958ED5FB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147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6077"/>
                </a:solidFill>
              </a:defRPr>
            </a:pPr>
            <a:r>
              <a:rPr sz="1200">
                <a:solidFill>
                  <a:srgbClr val="526077"/>
                </a:solidFill>
              </a:rPr>
              <a:t>live dApp connected to deployed EscrowContract and WorkToken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BEFBD9-F1EE-43C1-A576-A40394525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838450"/>
            <a:ext cx="312420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A3A685-2779-4302-A780-B03C9945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838450"/>
            <a:ext cx="76200" cy="1447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6A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E7613F-3161-4F18-996A-7D0AE70D2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0515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1827"/>
                </a:solidFill>
              </a:defRPr>
            </a:pPr>
            <a:r>
              <a:rPr sz="3150" b="1">
                <a:solidFill>
                  <a:srgbClr val="101827"/>
                </a:solidFill>
              </a:rPr>
              <a:t>ON-CHAIN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66D458-7A1C-4EA1-9A62-A55D591C1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147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6077"/>
                </a:solidFill>
              </a:defRPr>
            </a:pPr>
            <a:r>
              <a:rPr sz="1200">
                <a:solidFill>
                  <a:srgbClr val="526077"/>
                </a:solidFill>
              </a:rPr>
              <a:t>critical contract state changes are signed and independently inspectable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0911C5-1B82-42FC-A662-EDAC7AE05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838450"/>
            <a:ext cx="312420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662DF4-1B19-4F15-AD39-29A5874AA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838450"/>
            <a:ext cx="76200" cy="1447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A7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192E77-7564-4D86-AB7D-4501A34B7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0515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1827"/>
                </a:solidFill>
              </a:defRPr>
            </a:pPr>
            <a:r>
              <a:rPr sz="3150" b="1">
                <a:solidFill>
                  <a:srgbClr val="101827"/>
                </a:solidFill>
              </a:rPr>
              <a:t>56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FB6E94-9D8E-441C-A927-9F6DE81ED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147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6077"/>
                </a:solidFill>
              </a:defRPr>
            </a:pPr>
            <a:r>
              <a:rPr sz="1200">
                <a:solidFill>
                  <a:srgbClr val="526077"/>
                </a:solidFill>
              </a:rPr>
              <a:t>automated contract tests covering critical lifecycle paths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00C659-5E62-423D-AD8B-E536BB9E5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99822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E30756-9D0B-494B-A8BE-E432DCCB3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33950"/>
            <a:ext cx="956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1827"/>
                </a:solidFill>
              </a:defRPr>
            </a:pPr>
            <a:r>
              <a:rPr sz="1350" b="1">
                <a:solidFill>
                  <a:srgbClr val="101827"/>
                </a:solidFill>
              </a:rPr>
              <a:t>Product validation combines clear on-chain visibility with automated contract coverage.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84F931-9C4C-4EAF-960B-C046638C6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077"/>
                </a:solidFill>
              </a:defRPr>
            </a:pPr>
            <a:r>
              <a:rPr sz="1350">
                <a:solidFill>
                  <a:srgbClr val="526077"/>
                </a:solidFill>
              </a:rPr>
              <a:t>Explorer visibility makes every critical state change independently auditable.</a:t>
            </a:r>
          </a:p>
        </p:txBody>
      </p:sp>
    </p:spTree>
    <p:extLst>
      <p:ext uri="{BB962C8B-B14F-4D97-AF65-F5344CB8AC3E}">
        <p14:creationId xmlns:p14="http://schemas.microsoft.com/office/powerpoint/2010/main" val="20413231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FAF055-323E-4010-89D4-24D87B312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56AE6"/>
                </a:solidFill>
              </a:defRPr>
            </a:pPr>
            <a:r>
              <a:rPr sz="900" b="1">
                <a:solidFill>
                  <a:srgbClr val="356AE6"/>
                </a:solidFill>
              </a:rPr>
              <a:t>GROWTH STRATEGY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CD7227-A6C5-4485-8033-400425E1E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000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77"/>
                </a:solidFill>
              </a:defRPr>
            </a:pPr>
            <a:r>
              <a:rPr sz="900" b="1">
                <a:solidFill>
                  <a:srgbClr val="526077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E1C030-2B49-4999-A4EA-D36A66123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09D82E-AAF7-4AF8-903F-031581EAD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8191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1827"/>
                </a:solidFill>
              </a:defRPr>
            </a:pPr>
            <a:r>
              <a:rPr sz="3150" b="1">
                <a:solidFill>
                  <a:srgbClr val="101827"/>
                </a:solidFill>
              </a:rPr>
              <a:t>Growth comes from demonstrable trust—not speculative incentives.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C90BCD-B71A-4D1E-B2AB-E4A373FC4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14525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077"/>
                </a:solidFill>
              </a:defRPr>
            </a:pPr>
            <a:r>
              <a:rPr sz="1425">
                <a:solidFill>
                  <a:srgbClr val="526077"/>
                </a:solidFill>
              </a:rPr>
              <a:t>Each successful job strengthens the next marketplace interaction.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67C37B-3B0E-4537-8D43-5DB9C03F1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3162300" cy="23431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789067-2ACA-409B-A65A-EFD2AD840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051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6A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482697-8625-434F-8FA0-B9DE18EDE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908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A9FE29-B229-4AB4-B764-688EA56DD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14750"/>
            <a:ext cx="2743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7"/>
                </a:solidFill>
              </a:defRPr>
            </a:pPr>
            <a:r>
              <a:rPr sz="1650" b="1">
                <a:solidFill>
                  <a:srgbClr val="101827"/>
                </a:solidFill>
              </a:rPr>
              <a:t>Activate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837857-5793-4381-86A2-3615C3AB0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52900"/>
            <a:ext cx="2743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077"/>
                </a:solidFill>
              </a:defRPr>
            </a:pPr>
            <a:r>
              <a:rPr sz="1275">
                <a:solidFill>
                  <a:srgbClr val="526077"/>
                </a:solidFill>
              </a:rPr>
              <a:t>Onboard freelancer communities with testnet project templates and practical guided flows.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83585D-0A5B-4805-864F-7CED05169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95600"/>
            <a:ext cx="3162300" cy="23431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3198E5-585E-4EB1-941E-9B7493307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1051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6A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41D62B-4A36-428E-9B1B-9194B3B32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1908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A48ABB-4120-4953-B839-226A76A8D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714750"/>
            <a:ext cx="2743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7"/>
                </a:solidFill>
              </a:defRPr>
            </a:pPr>
            <a:r>
              <a:rPr sz="1650" b="1">
                <a:solidFill>
                  <a:srgbClr val="101827"/>
                </a:solidFill>
              </a:rPr>
              <a:t>Prove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B93065-DC97-4FB0-AF95-B0C854C5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152900"/>
            <a:ext cx="2743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077"/>
                </a:solidFill>
              </a:defRPr>
            </a:pPr>
            <a:r>
              <a:rPr sz="1275">
                <a:solidFill>
                  <a:srgbClr val="526077"/>
                </a:solidFill>
              </a:rPr>
              <a:t>Partner with hackathons and student-builder programs for milestone bounties and visible results.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600CD7-3F2D-4A82-A1AB-7325EFADC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95600"/>
            <a:ext cx="3162300" cy="23431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1A13FD-35A3-493F-BBD9-A80E06938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1051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6A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AE768D-6B1C-40E0-B637-2B23593FE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1908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6FDDD2-906A-4A5D-BEAE-C8617A903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714750"/>
            <a:ext cx="2743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7"/>
                </a:solidFill>
              </a:defRPr>
            </a:pPr>
            <a:r>
              <a:rPr sz="1650" b="1">
                <a:solidFill>
                  <a:srgbClr val="101827"/>
                </a:solidFill>
              </a:rPr>
              <a:t>Compound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92C81F-ED7F-454A-90E8-883390A9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152900"/>
            <a:ext cx="2743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077"/>
                </a:solidFill>
              </a:defRPr>
            </a:pPr>
            <a:r>
              <a:rPr sz="1275">
                <a:solidFill>
                  <a:srgbClr val="526077"/>
                </a:solidFill>
              </a:rPr>
              <a:t>Portable WORK reputation improves discovery and unlocks focused mainnet pilot cohorts.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3AEE22-66A7-43EC-8FC0-E347857A3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56AE6"/>
                </a:solidFill>
              </a:defRPr>
            </a:pPr>
            <a:r>
              <a:rPr sz="1575" b="1">
                <a:solidFill>
                  <a:srgbClr val="356AE6"/>
                </a:solidFill>
              </a:rPr>
              <a:t>Completed work → verifiable reputation → stronger discovery → more funded jobs</a:t>
            </a:r>
          </a:p>
        </p:txBody>
      </p:sp>
    </p:spTree>
    <p:extLst>
      <p:ext uri="{BB962C8B-B14F-4D97-AF65-F5344CB8AC3E}">
        <p14:creationId xmlns:p14="http://schemas.microsoft.com/office/powerpoint/2010/main" val="178815769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BA7C0D-07DD-426D-B252-E5B8861B9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56AE6"/>
                </a:solidFill>
              </a:defRPr>
            </a:pPr>
            <a:r>
              <a:rPr sz="900" b="1">
                <a:solidFill>
                  <a:srgbClr val="356AE6"/>
                </a:solidFill>
              </a:rPr>
              <a:t>BUSINESS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55A751-CCFC-405E-BBC3-C8B83D678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000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77"/>
                </a:solidFill>
              </a:defRPr>
            </a:pPr>
            <a:r>
              <a:rPr sz="900" b="1">
                <a:solidFill>
                  <a:srgbClr val="526077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652931-1A7A-4995-8A39-2CDEA2BEC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CF22A8-E8D9-4616-9714-6DEEBF996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8191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1827"/>
                </a:solidFill>
              </a:defRPr>
            </a:pPr>
            <a:r>
              <a:rPr sz="3150" b="1">
                <a:solidFill>
                  <a:srgbClr val="101827"/>
                </a:solidFill>
              </a:rPr>
              <a:t>A focused path to sustainable platform value.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61C275-C358-413C-8DEF-2C4417963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14525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077"/>
                </a:solidFill>
              </a:defRPr>
            </a:pPr>
            <a:r>
              <a:rPr sz="1425">
                <a:solidFill>
                  <a:srgbClr val="526077"/>
                </a:solidFill>
              </a:rPr>
              <a:t>Keep escrow transparent and non-custodial; monetize the workflow around 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246857-A5D9-4BBC-89AE-A28FF14B5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01727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AC0AD0-6C87-4484-8D80-9D0471FF4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1942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1827"/>
                </a:solidFill>
              </a:defRPr>
            </a:pPr>
            <a:r>
              <a:rPr sz="1500" b="1">
                <a:solidFill>
                  <a:srgbClr val="101827"/>
                </a:solidFill>
              </a:rPr>
              <a:t>Premium workspaces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4EEC30-0488-437C-8B1E-7638DF236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19425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077"/>
                </a:solidFill>
              </a:defRPr>
            </a:pPr>
            <a:r>
              <a:rPr sz="1350">
                <a:solidFill>
                  <a:srgbClr val="526077"/>
                </a:solidFill>
              </a:rPr>
              <a:t>Organization controls, collaboration, and team coordination.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8B282B-9BE9-474B-99B9-20D57D7DB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01727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7E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06555F-A9FC-4193-981B-C6139CE5D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3382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1827"/>
                </a:solidFill>
              </a:defRPr>
            </a:pPr>
            <a:r>
              <a:rPr sz="1500" b="1">
                <a:solidFill>
                  <a:srgbClr val="101827"/>
                </a:solidFill>
              </a:rPr>
              <a:t>Enhanced arbitration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4AC846-8307-4863-ADCF-5B262F77B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933825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077"/>
                </a:solidFill>
              </a:defRPr>
            </a:pPr>
            <a:r>
              <a:rPr sz="1350">
                <a:solidFill>
                  <a:srgbClr val="526077"/>
                </a:solidFill>
              </a:rPr>
              <a:t>Evidence handling and advanced dispute workflow tools.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A65083-9A65-4C6C-A7A0-6B8B2AAE5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101727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457D18-A13A-422E-9226-BA8BB486F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4822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1827"/>
                </a:solidFill>
              </a:defRPr>
            </a:pPr>
            <a:r>
              <a:rPr sz="1500" b="1">
                <a:solidFill>
                  <a:srgbClr val="101827"/>
                </a:solidFill>
              </a:rPr>
              <a:t>Discovery and analytics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76C5B1-21DD-439A-A9EB-0D848A7F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48225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077"/>
                </a:solidFill>
              </a:defRPr>
            </a:pPr>
            <a:r>
              <a:rPr sz="1350">
                <a:solidFill>
                  <a:srgbClr val="526077"/>
                </a:solidFill>
              </a:rPr>
              <a:t>Job promotion, verified reputation insights, and reporting.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F807A0-4FF0-419B-BF97-BE6B2CB45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1827"/>
                </a:solidFill>
              </a:defRPr>
            </a:pPr>
            <a:r>
              <a:rPr sz="1500" b="1">
                <a:solidFill>
                  <a:srgbClr val="101827"/>
                </a:solidFill>
              </a:rPr>
              <a:t>Principle: trust infrastructure should make work easier—not introduce a new rent-seeking layer.</a:t>
            </a:r>
          </a:p>
        </p:txBody>
      </p:sp>
    </p:spTree>
    <p:extLst>
      <p:ext uri="{BB962C8B-B14F-4D97-AF65-F5344CB8AC3E}">
        <p14:creationId xmlns:p14="http://schemas.microsoft.com/office/powerpoint/2010/main" val="38262042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8CF7D8-4ED9-4A89-98A2-FCE677A29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56AE6"/>
                </a:solidFill>
              </a:defRPr>
            </a:pPr>
            <a:r>
              <a:rPr sz="900" b="1">
                <a:solidFill>
                  <a:srgbClr val="356AE6"/>
                </a:solidFill>
              </a:rPr>
              <a:t>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936ED4-E1C1-4FFB-A2AF-54A640926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000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77"/>
                </a:solidFill>
              </a:defRPr>
            </a:pPr>
            <a:r>
              <a:rPr sz="900" b="1">
                <a:solidFill>
                  <a:srgbClr val="526077"/>
                </a:solidFill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B9628C-94FA-44B7-92A1-FF1486919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380A8F-6B8C-45AF-B7A2-13B21459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8191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1827"/>
                </a:solidFill>
              </a:defRPr>
            </a:pPr>
            <a:r>
              <a:rPr sz="3150" b="1">
                <a:solidFill>
                  <a:srgbClr val="101827"/>
                </a:solidFill>
              </a:rPr>
              <a:t>From testnet proof to a trusted work layer.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54F632-A8E8-496F-BA22-33D12CBF0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14525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077"/>
                </a:solidFill>
              </a:defRPr>
            </a:pPr>
            <a:r>
              <a:rPr sz="1425">
                <a:solidFill>
                  <a:srgbClr val="526077"/>
                </a:solidFill>
              </a:rPr>
              <a:t>A staged path prioritizes product evidence, safety, and responsible mainnet readiness.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3046E4-11B5-4EE9-9F0E-CB62DC92B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10668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9643BF-A976-4708-A9E0-E9AB2C76E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43225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56AE6"/>
                </a:solidFill>
              </a:defRPr>
            </a:pPr>
            <a:r>
              <a:rPr sz="825" b="1">
                <a:solidFill>
                  <a:srgbClr val="356AE6"/>
                </a:solidFill>
              </a:rPr>
              <a:t>NOW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40D73E-E715-4B3B-B063-B2D3A4F4F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238125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01EF2F-6B8C-42BE-A963-E9640282B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200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1827"/>
                </a:solidFill>
              </a:defRPr>
            </a:pPr>
            <a:r>
              <a:rPr sz="1350">
                <a:solidFill>
                  <a:srgbClr val="101827"/>
                </a:solidFill>
              </a:rPr>
              <a:t>Testnet escrow, WORK reputation, feedback-led UX improvements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DE5E1C-B347-4BC6-A9D7-84F3236EA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95600"/>
            <a:ext cx="10668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EDF7A1-C791-463E-9F3B-AB0C9237D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43225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56AE6"/>
                </a:solidFill>
              </a:defRPr>
            </a:pPr>
            <a:r>
              <a:rPr sz="825" b="1">
                <a:solidFill>
                  <a:srgbClr val="356AE6"/>
                </a:solidFill>
              </a:rPr>
              <a:t>NEXT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E51A03-87D3-43D8-B4C2-4066D4A14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71850"/>
            <a:ext cx="238125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860E0B-79A2-49EB-B1F5-DFDE5CB31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638550"/>
            <a:ext cx="200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1827"/>
                </a:solidFill>
              </a:defRPr>
            </a:pPr>
            <a:r>
              <a:rPr sz="1350">
                <a:solidFill>
                  <a:srgbClr val="101827"/>
                </a:solidFill>
              </a:rPr>
              <a:t>Indexed activity feed, notifications, richer dispute 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A93776-B2F5-4DA9-B349-150E2A895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95600"/>
            <a:ext cx="10668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FD2511-9C82-4752-BBF7-7629D033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43225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56AE6"/>
                </a:solidFill>
              </a:defRPr>
            </a:pPr>
            <a:r>
              <a:rPr sz="825" b="1">
                <a:solidFill>
                  <a:srgbClr val="356AE6"/>
                </a:solidFill>
              </a:rPr>
              <a:t>PILOT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ADE044-A771-4703-95B9-B5D3E2578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371850"/>
            <a:ext cx="238125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800D21-23F5-479A-860E-54CBC6642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38550"/>
            <a:ext cx="200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1827"/>
                </a:solidFill>
              </a:defRPr>
            </a:pPr>
            <a:r>
              <a:rPr sz="1350">
                <a:solidFill>
                  <a:srgbClr val="101827"/>
                </a:solidFill>
              </a:rPr>
              <a:t>Curated freelancer/client cohorts with repeat milestone workflows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15C690-E45B-4ECC-BFEB-9418B99AE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95600"/>
            <a:ext cx="10668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0BA932-D4CA-4D19-B6AA-DB3CD5F61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943225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1B795"/>
                </a:solidFill>
              </a:defRPr>
            </a:pPr>
            <a:r>
              <a:rPr sz="825" b="1">
                <a:solidFill>
                  <a:srgbClr val="21B795"/>
                </a:solidFill>
              </a:rPr>
              <a:t>READINESS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A86B95-06CA-4233-B2A3-F3B82A00F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71850"/>
            <a:ext cx="238125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1E4674-417B-4C7E-BCA3-61C7B6A70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38550"/>
            <a:ext cx="200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1827"/>
                </a:solidFill>
              </a:defRPr>
            </a:pPr>
            <a:r>
              <a:rPr sz="1350">
                <a:solidFill>
                  <a:srgbClr val="101827"/>
                </a:solidFill>
              </a:rPr>
              <a:t>Security review, monitoring, admin policy, staged rollout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BBD7B5-53B0-481D-B320-55E4DCF92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56AE6"/>
                </a:solidFill>
              </a:defRPr>
            </a:pPr>
            <a:r>
              <a:rPr sz="1725" b="1">
                <a:solidFill>
                  <a:srgbClr val="356AE6"/>
                </a:solidFill>
              </a:rPr>
              <a:t>North star: make a milestone agreement as easy to create as a job post—and as reliable as a contract.</a:t>
            </a:r>
          </a:p>
        </p:txBody>
      </p:sp>
    </p:spTree>
    <p:extLst>
      <p:ext uri="{BB962C8B-B14F-4D97-AF65-F5344CB8AC3E}">
        <p14:creationId xmlns:p14="http://schemas.microsoft.com/office/powerpoint/2010/main" val="2813705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2026-08-30T05:24:57.9640000Z</dcterms:created>
  <dcterms:modified xsi:type="dcterms:W3CDTF">2026-08-30T05:24:57.9640000Z</dcterms:modified>
</coreProperties>
</file>